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66" r:id="rId2"/>
  </p:sldIdLst>
  <p:sldSz cx="30267275" cy="427942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85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638"/>
    <p:restoredTop sz="97861"/>
  </p:normalViewPr>
  <p:slideViewPr>
    <p:cSldViewPr snapToGrid="0">
      <p:cViewPr>
        <p:scale>
          <a:sx n="261" d="100"/>
          <a:sy n="261" d="100"/>
        </p:scale>
        <p:origin x="-26912" y="-1033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0EEC4E-0830-AB48-85E8-A2FCF3CE3339}" type="datetimeFigureOut">
              <a:rPr lang="en-US" smtClean="0"/>
              <a:t>2/10/26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C797B2-6C12-D04E-971F-55F8B7BE2D64}" type="slidenum">
              <a:rPr lang="en-US" smtClean="0"/>
              <a:t>‹#›</a:t>
            </a:fld>
            <a:endParaRPr lang="en-US"/>
          </a:p>
        </p:txBody>
      </p:sp>
    </p:spTree>
    <p:extLst>
      <p:ext uri="{BB962C8B-B14F-4D97-AF65-F5344CB8AC3E}">
        <p14:creationId xmlns:p14="http://schemas.microsoft.com/office/powerpoint/2010/main" val="3781466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F6362-60AA-2C96-770F-D0FB47C08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B3F49-E1E5-AC4C-534B-85431381FEC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02614F-1F85-A8C0-DC11-8AC4A98AFE6E}"/>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Ground Systems Autonomy – Perception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Vehicle Autonomy and Dynamics | Platforms Division</a:t>
            </a:r>
            <a:br>
              <a:rPr lang="en-US" sz="1200" kern="1200" dirty="0">
                <a:solidFill>
                  <a:schemeClr val="tx1"/>
                </a:solidFill>
                <a:effectLst/>
                <a:latin typeface="+mn-lt"/>
                <a:ea typeface="+mn-ea"/>
                <a:cs typeface="+mn-cs"/>
              </a:rPr>
            </a:br>
            <a:r>
              <a:rPr lang="en-US" sz="1200" kern="1200" dirty="0" err="1">
                <a:solidFill>
                  <a:schemeClr val="tx1"/>
                </a:solidFill>
                <a:effectLst/>
                <a:latin typeface="+mn-lt"/>
                <a:ea typeface="+mn-ea"/>
                <a:cs typeface="+mn-cs"/>
              </a:rPr>
              <a:t>Defence</a:t>
            </a:r>
            <a:r>
              <a:rPr lang="en-US" sz="1200" kern="1200" dirty="0">
                <a:solidFill>
                  <a:schemeClr val="tx1"/>
                </a:solidFill>
                <a:effectLst/>
                <a:latin typeface="+mn-lt"/>
                <a:ea typeface="+mn-ea"/>
                <a:cs typeface="+mn-cs"/>
              </a:rPr>
              <a:t> Science and Technology Group</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Background of Research Project: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Most successful demonstrations of multi robot autonomy rely heavily on availability of good positioning data for the robots. While GPS is the most commonly used sensor for achieving good positioning it is often times intermittent and unreliable in indoor, remote or contested environments. DST is about to conclude a current research agreement with ANU in which both teams innovated a collaborative positioning system consisting of robotic vehicles, sensors and algorithms that result in good positioning without relying heavily on GPS. This current project is the continuation of that project based on lessons learnt and the opportunities identified for improving this collaborative positioning system. The project will involve exploring new camera technologies, integration/improvements with the robot fleet and research and algorithm design work for positioning and control.</a:t>
            </a:r>
          </a:p>
          <a:p>
            <a:r>
              <a:rPr lang="en-US" sz="1200" kern="1200" dirty="0">
                <a:solidFill>
                  <a:schemeClr val="tx1"/>
                </a:solidFill>
                <a:effectLst/>
                <a:latin typeface="+mn-lt"/>
                <a:ea typeface="+mn-ea"/>
                <a:cs typeface="+mn-cs"/>
              </a:rPr>
              <a:t> </a:t>
            </a:r>
            <a:endParaRPr lang="en-US" dirty="0"/>
          </a:p>
        </p:txBody>
      </p:sp>
      <p:sp>
        <p:nvSpPr>
          <p:cNvPr id="4" name="Slide Number Placeholder 3">
            <a:extLst>
              <a:ext uri="{FF2B5EF4-FFF2-40B4-BE49-F238E27FC236}">
                <a16:creationId xmlns:a16="http://schemas.microsoft.com/office/drawing/2014/main" id="{ED1A479F-B532-BFE2-9B1B-2FB590CF8E21}"/>
              </a:ext>
            </a:extLst>
          </p:cNvPr>
          <p:cNvSpPr>
            <a:spLocks noGrp="1"/>
          </p:cNvSpPr>
          <p:nvPr>
            <p:ph type="sldNum" sz="quarter" idx="5"/>
          </p:nvPr>
        </p:nvSpPr>
        <p:spPr/>
        <p:txBody>
          <a:bodyPr/>
          <a:lstStyle/>
          <a:p>
            <a:fld id="{DCC797B2-6C12-D04E-971F-55F8B7BE2D64}" type="slidenum">
              <a:rPr lang="en-US" smtClean="0"/>
              <a:t>1</a:t>
            </a:fld>
            <a:endParaRPr lang="en-US"/>
          </a:p>
        </p:txBody>
      </p:sp>
    </p:spTree>
    <p:extLst>
      <p:ext uri="{BB962C8B-B14F-4D97-AF65-F5344CB8AC3E}">
        <p14:creationId xmlns:p14="http://schemas.microsoft.com/office/powerpoint/2010/main" val="3858413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046" y="7003597"/>
            <a:ext cx="25727184" cy="14898735"/>
          </a:xfrm>
        </p:spPr>
        <p:txBody>
          <a:bodyPr anchor="b"/>
          <a:lstStyle>
            <a:lvl1pPr algn="ctr">
              <a:defRPr sz="19861"/>
            </a:lvl1pPr>
          </a:lstStyle>
          <a:p>
            <a:r>
              <a:rPr lang="en-US"/>
              <a:t>Click to edit Master title style</a:t>
            </a:r>
            <a:endParaRPr lang="en-US" dirty="0"/>
          </a:p>
        </p:txBody>
      </p:sp>
      <p:sp>
        <p:nvSpPr>
          <p:cNvPr id="3" name="Subtitle 2"/>
          <p:cNvSpPr>
            <a:spLocks noGrp="1"/>
          </p:cNvSpPr>
          <p:nvPr>
            <p:ph type="subTitle" idx="1"/>
          </p:nvPr>
        </p:nvSpPr>
        <p:spPr>
          <a:xfrm>
            <a:off x="3783410" y="22476884"/>
            <a:ext cx="22700456" cy="10332032"/>
          </a:xfrm>
        </p:spPr>
        <p:txBody>
          <a:bodyPr/>
          <a:lstStyle>
            <a:lvl1pPr marL="0" indent="0" algn="ctr">
              <a:buNone/>
              <a:defRPr sz="7944"/>
            </a:lvl1pPr>
            <a:lvl2pPr marL="1513378" indent="0" algn="ctr">
              <a:buNone/>
              <a:defRPr sz="6620"/>
            </a:lvl2pPr>
            <a:lvl3pPr marL="3026755" indent="0" algn="ctr">
              <a:buNone/>
              <a:defRPr sz="5958"/>
            </a:lvl3pPr>
            <a:lvl4pPr marL="4540133" indent="0" algn="ctr">
              <a:buNone/>
              <a:defRPr sz="5296"/>
            </a:lvl4pPr>
            <a:lvl5pPr marL="6053511" indent="0" algn="ctr">
              <a:buNone/>
              <a:defRPr sz="5296"/>
            </a:lvl5pPr>
            <a:lvl6pPr marL="7566889" indent="0" algn="ctr">
              <a:buNone/>
              <a:defRPr sz="5296"/>
            </a:lvl6pPr>
            <a:lvl7pPr marL="9080266" indent="0" algn="ctr">
              <a:buNone/>
              <a:defRPr sz="5296"/>
            </a:lvl7pPr>
            <a:lvl8pPr marL="10593644" indent="0" algn="ctr">
              <a:buNone/>
              <a:defRPr sz="5296"/>
            </a:lvl8pPr>
            <a:lvl9pPr marL="12107022" indent="0" algn="ctr">
              <a:buNone/>
              <a:defRPr sz="5296"/>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7ADB1D-C313-7142-8C96-5C729C52BFF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1089372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ADB1D-C313-7142-8C96-5C729C52BFF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171892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112" y="10668854"/>
            <a:ext cx="26105525" cy="17801211"/>
          </a:xfrm>
        </p:spPr>
        <p:txBody>
          <a:bodyPr anchor="b"/>
          <a:lstStyle>
            <a:lvl1pPr>
              <a:defRPr sz="19861"/>
            </a:lvl1pPr>
          </a:lstStyle>
          <a:p>
            <a:r>
              <a:rPr lang="en-US"/>
              <a:t>Click to edit Master title style</a:t>
            </a:r>
            <a:endParaRPr lang="en-US" dirty="0"/>
          </a:p>
        </p:txBody>
      </p:sp>
      <p:sp>
        <p:nvSpPr>
          <p:cNvPr id="3" name="Text Placeholder 2"/>
          <p:cNvSpPr>
            <a:spLocks noGrp="1"/>
          </p:cNvSpPr>
          <p:nvPr>
            <p:ph type="body" idx="1"/>
          </p:nvPr>
        </p:nvSpPr>
        <p:spPr>
          <a:xfrm>
            <a:off x="2065112" y="28638472"/>
            <a:ext cx="26105525" cy="9361236"/>
          </a:xfrm>
        </p:spPr>
        <p:txBody>
          <a:bodyPr/>
          <a:lstStyle>
            <a:lvl1pPr marL="0" indent="0">
              <a:buNone/>
              <a:defRPr sz="7944">
                <a:solidFill>
                  <a:schemeClr val="tx1">
                    <a:tint val="82000"/>
                  </a:schemeClr>
                </a:solidFill>
              </a:defRPr>
            </a:lvl1pPr>
            <a:lvl2pPr marL="1513378" indent="0">
              <a:buNone/>
              <a:defRPr sz="6620">
                <a:solidFill>
                  <a:schemeClr val="tx1">
                    <a:tint val="82000"/>
                  </a:schemeClr>
                </a:solidFill>
              </a:defRPr>
            </a:lvl2pPr>
            <a:lvl3pPr marL="3026755" indent="0">
              <a:buNone/>
              <a:defRPr sz="5958">
                <a:solidFill>
                  <a:schemeClr val="tx1">
                    <a:tint val="82000"/>
                  </a:schemeClr>
                </a:solidFill>
              </a:defRPr>
            </a:lvl3pPr>
            <a:lvl4pPr marL="4540133" indent="0">
              <a:buNone/>
              <a:defRPr sz="5296">
                <a:solidFill>
                  <a:schemeClr val="tx1">
                    <a:tint val="82000"/>
                  </a:schemeClr>
                </a:solidFill>
              </a:defRPr>
            </a:lvl4pPr>
            <a:lvl5pPr marL="6053511" indent="0">
              <a:buNone/>
              <a:defRPr sz="5296">
                <a:solidFill>
                  <a:schemeClr val="tx1">
                    <a:tint val="82000"/>
                  </a:schemeClr>
                </a:solidFill>
              </a:defRPr>
            </a:lvl5pPr>
            <a:lvl6pPr marL="7566889" indent="0">
              <a:buNone/>
              <a:defRPr sz="5296">
                <a:solidFill>
                  <a:schemeClr val="tx1">
                    <a:tint val="82000"/>
                  </a:schemeClr>
                </a:solidFill>
              </a:defRPr>
            </a:lvl6pPr>
            <a:lvl7pPr marL="9080266" indent="0">
              <a:buNone/>
              <a:defRPr sz="5296">
                <a:solidFill>
                  <a:schemeClr val="tx1">
                    <a:tint val="82000"/>
                  </a:schemeClr>
                </a:solidFill>
              </a:defRPr>
            </a:lvl7pPr>
            <a:lvl8pPr marL="10593644" indent="0">
              <a:buNone/>
              <a:defRPr sz="5296">
                <a:solidFill>
                  <a:schemeClr val="tx1">
                    <a:tint val="82000"/>
                  </a:schemeClr>
                </a:solidFill>
              </a:defRPr>
            </a:lvl8pPr>
            <a:lvl9pPr marL="12107022" indent="0">
              <a:buNone/>
              <a:defRPr sz="5296">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ADB1D-C313-7142-8C96-5C729C52BFF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1418148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0875" y="11391985"/>
            <a:ext cx="12863592"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2808" y="11391985"/>
            <a:ext cx="12863592"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7ADB1D-C313-7142-8C96-5C729C52BFF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1793057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278406"/>
            <a:ext cx="26105525" cy="827157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4821" y="10490535"/>
            <a:ext cx="12804474" cy="5141249"/>
          </a:xfrm>
        </p:spPr>
        <p:txBody>
          <a:bodyPr anchor="b"/>
          <a:lstStyle>
            <a:lvl1pPr marL="0" indent="0">
              <a:buNone/>
              <a:defRPr sz="7944" b="1"/>
            </a:lvl1pPr>
            <a:lvl2pPr marL="1513378" indent="0">
              <a:buNone/>
              <a:defRPr sz="6620" b="1"/>
            </a:lvl2pPr>
            <a:lvl3pPr marL="3026755" indent="0">
              <a:buNone/>
              <a:defRPr sz="5958" b="1"/>
            </a:lvl3pPr>
            <a:lvl4pPr marL="4540133" indent="0">
              <a:buNone/>
              <a:defRPr sz="5296" b="1"/>
            </a:lvl4pPr>
            <a:lvl5pPr marL="6053511" indent="0">
              <a:buNone/>
              <a:defRPr sz="5296" b="1"/>
            </a:lvl5pPr>
            <a:lvl6pPr marL="7566889" indent="0">
              <a:buNone/>
              <a:defRPr sz="5296" b="1"/>
            </a:lvl6pPr>
            <a:lvl7pPr marL="9080266" indent="0">
              <a:buNone/>
              <a:defRPr sz="5296" b="1"/>
            </a:lvl7pPr>
            <a:lvl8pPr marL="10593644" indent="0">
              <a:buNone/>
              <a:defRPr sz="5296" b="1"/>
            </a:lvl8pPr>
            <a:lvl9pPr marL="12107022" indent="0">
              <a:buNone/>
              <a:defRPr sz="5296" b="1"/>
            </a:lvl9pPr>
          </a:lstStyle>
          <a:p>
            <a:pPr lvl="0"/>
            <a:r>
              <a:rPr lang="en-US"/>
              <a:t>Click to edit Master text styles</a:t>
            </a:r>
          </a:p>
        </p:txBody>
      </p:sp>
      <p:sp>
        <p:nvSpPr>
          <p:cNvPr id="4" name="Content Placeholder 3"/>
          <p:cNvSpPr>
            <a:spLocks noGrp="1"/>
          </p:cNvSpPr>
          <p:nvPr>
            <p:ph sz="half" idx="2"/>
          </p:nvPr>
        </p:nvSpPr>
        <p:spPr>
          <a:xfrm>
            <a:off x="2084821" y="15631784"/>
            <a:ext cx="12804474"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2810" y="10490535"/>
            <a:ext cx="12867534" cy="5141249"/>
          </a:xfrm>
        </p:spPr>
        <p:txBody>
          <a:bodyPr anchor="b"/>
          <a:lstStyle>
            <a:lvl1pPr marL="0" indent="0">
              <a:buNone/>
              <a:defRPr sz="7944" b="1"/>
            </a:lvl1pPr>
            <a:lvl2pPr marL="1513378" indent="0">
              <a:buNone/>
              <a:defRPr sz="6620" b="1"/>
            </a:lvl2pPr>
            <a:lvl3pPr marL="3026755" indent="0">
              <a:buNone/>
              <a:defRPr sz="5958" b="1"/>
            </a:lvl3pPr>
            <a:lvl4pPr marL="4540133" indent="0">
              <a:buNone/>
              <a:defRPr sz="5296" b="1"/>
            </a:lvl4pPr>
            <a:lvl5pPr marL="6053511" indent="0">
              <a:buNone/>
              <a:defRPr sz="5296" b="1"/>
            </a:lvl5pPr>
            <a:lvl6pPr marL="7566889" indent="0">
              <a:buNone/>
              <a:defRPr sz="5296" b="1"/>
            </a:lvl6pPr>
            <a:lvl7pPr marL="9080266" indent="0">
              <a:buNone/>
              <a:defRPr sz="5296" b="1"/>
            </a:lvl7pPr>
            <a:lvl8pPr marL="10593644" indent="0">
              <a:buNone/>
              <a:defRPr sz="5296" b="1"/>
            </a:lvl8pPr>
            <a:lvl9pPr marL="12107022" indent="0">
              <a:buNone/>
              <a:defRPr sz="5296" b="1"/>
            </a:lvl9pPr>
          </a:lstStyle>
          <a:p>
            <a:pPr lvl="0"/>
            <a:r>
              <a:rPr lang="en-US"/>
              <a:t>Click to edit Master text styles</a:t>
            </a:r>
          </a:p>
        </p:txBody>
      </p:sp>
      <p:sp>
        <p:nvSpPr>
          <p:cNvPr id="6" name="Content Placeholder 5"/>
          <p:cNvSpPr>
            <a:spLocks noGrp="1"/>
          </p:cNvSpPr>
          <p:nvPr>
            <p:ph sz="quarter" idx="4"/>
          </p:nvPr>
        </p:nvSpPr>
        <p:spPr>
          <a:xfrm>
            <a:off x="15322810" y="15631784"/>
            <a:ext cx="12867534"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7ADB1D-C313-7142-8C96-5C729C52BFF4}" type="datetimeFigureOut">
              <a:rPr lang="en-US" smtClean="0"/>
              <a:t>2/10/26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3800293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7ADB1D-C313-7142-8C96-5C729C52BFF4}" type="datetimeFigureOut">
              <a:rPr lang="en-US" smtClean="0"/>
              <a:t>2/10/26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2662502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ADB1D-C313-7142-8C96-5C729C52BFF4}" type="datetimeFigureOut">
              <a:rPr lang="en-US" smtClean="0"/>
              <a:t>2/10/26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2705359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49"/>
            <a:ext cx="9761984" cy="9985322"/>
          </a:xfrm>
        </p:spPr>
        <p:txBody>
          <a:bodyPr anchor="b"/>
          <a:lstStyle>
            <a:lvl1pPr>
              <a:defRPr sz="10592"/>
            </a:lvl1pPr>
          </a:lstStyle>
          <a:p>
            <a:r>
              <a:rPr lang="en-US"/>
              <a:t>Click to edit Master title style</a:t>
            </a:r>
            <a:endParaRPr lang="en-US" dirty="0"/>
          </a:p>
        </p:txBody>
      </p:sp>
      <p:sp>
        <p:nvSpPr>
          <p:cNvPr id="3" name="Content Placeholder 2"/>
          <p:cNvSpPr>
            <a:spLocks noGrp="1"/>
          </p:cNvSpPr>
          <p:nvPr>
            <p:ph idx="1"/>
          </p:nvPr>
        </p:nvSpPr>
        <p:spPr>
          <a:xfrm>
            <a:off x="12867534" y="6161587"/>
            <a:ext cx="15322808" cy="30411646"/>
          </a:xfrm>
        </p:spPr>
        <p:txBody>
          <a:bodyPr/>
          <a:lstStyle>
            <a:lvl1pPr>
              <a:defRPr sz="10592"/>
            </a:lvl1pPr>
            <a:lvl2pPr>
              <a:defRPr sz="9268"/>
            </a:lvl2pPr>
            <a:lvl3pPr>
              <a:defRPr sz="7944"/>
            </a:lvl3pPr>
            <a:lvl4pPr>
              <a:defRPr sz="6620"/>
            </a:lvl4pPr>
            <a:lvl5pPr>
              <a:defRPr sz="6620"/>
            </a:lvl5pPr>
            <a:lvl6pPr>
              <a:defRPr sz="6620"/>
            </a:lvl6pPr>
            <a:lvl7pPr>
              <a:defRPr sz="6620"/>
            </a:lvl7pPr>
            <a:lvl8pPr>
              <a:defRPr sz="6620"/>
            </a:lvl8pPr>
            <a:lvl9pPr>
              <a:defRPr sz="6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4817" y="12838271"/>
            <a:ext cx="9761984" cy="23784486"/>
          </a:xfrm>
        </p:spPr>
        <p:txBody>
          <a:bodyPr/>
          <a:lstStyle>
            <a:lvl1pPr marL="0" indent="0">
              <a:buNone/>
              <a:defRPr sz="5296"/>
            </a:lvl1pPr>
            <a:lvl2pPr marL="1513378" indent="0">
              <a:buNone/>
              <a:defRPr sz="4634"/>
            </a:lvl2pPr>
            <a:lvl3pPr marL="3026755" indent="0">
              <a:buNone/>
              <a:defRPr sz="3972"/>
            </a:lvl3pPr>
            <a:lvl4pPr marL="4540133" indent="0">
              <a:buNone/>
              <a:defRPr sz="3310"/>
            </a:lvl4pPr>
            <a:lvl5pPr marL="6053511" indent="0">
              <a:buNone/>
              <a:defRPr sz="3310"/>
            </a:lvl5pPr>
            <a:lvl6pPr marL="7566889" indent="0">
              <a:buNone/>
              <a:defRPr sz="3310"/>
            </a:lvl6pPr>
            <a:lvl7pPr marL="9080266" indent="0">
              <a:buNone/>
              <a:defRPr sz="3310"/>
            </a:lvl7pPr>
            <a:lvl8pPr marL="10593644" indent="0">
              <a:buNone/>
              <a:defRPr sz="3310"/>
            </a:lvl8pPr>
            <a:lvl9pPr marL="12107022"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627ADB1D-C313-7142-8C96-5C729C52BFF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754754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49"/>
            <a:ext cx="9761984" cy="9985322"/>
          </a:xfrm>
        </p:spPr>
        <p:txBody>
          <a:bodyPr anchor="b"/>
          <a:lstStyle>
            <a:lvl1pPr>
              <a:defRPr sz="10592"/>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67534" y="6161587"/>
            <a:ext cx="15322808" cy="30411646"/>
          </a:xfrm>
        </p:spPr>
        <p:txBody>
          <a:bodyPr anchor="t"/>
          <a:lstStyle>
            <a:lvl1pPr marL="0" indent="0">
              <a:buNone/>
              <a:defRPr sz="10592"/>
            </a:lvl1pPr>
            <a:lvl2pPr marL="1513378" indent="0">
              <a:buNone/>
              <a:defRPr sz="9268"/>
            </a:lvl2pPr>
            <a:lvl3pPr marL="3026755" indent="0">
              <a:buNone/>
              <a:defRPr sz="7944"/>
            </a:lvl3pPr>
            <a:lvl4pPr marL="4540133" indent="0">
              <a:buNone/>
              <a:defRPr sz="6620"/>
            </a:lvl4pPr>
            <a:lvl5pPr marL="6053511" indent="0">
              <a:buNone/>
              <a:defRPr sz="6620"/>
            </a:lvl5pPr>
            <a:lvl6pPr marL="7566889" indent="0">
              <a:buNone/>
              <a:defRPr sz="6620"/>
            </a:lvl6pPr>
            <a:lvl7pPr marL="9080266" indent="0">
              <a:buNone/>
              <a:defRPr sz="6620"/>
            </a:lvl7pPr>
            <a:lvl8pPr marL="10593644" indent="0">
              <a:buNone/>
              <a:defRPr sz="6620"/>
            </a:lvl8pPr>
            <a:lvl9pPr marL="12107022" indent="0">
              <a:buNone/>
              <a:defRPr sz="6620"/>
            </a:lvl9pPr>
          </a:lstStyle>
          <a:p>
            <a:r>
              <a:rPr lang="en-US"/>
              <a:t>Click icon to add picture</a:t>
            </a:r>
            <a:endParaRPr lang="en-US" dirty="0"/>
          </a:p>
        </p:txBody>
      </p:sp>
      <p:sp>
        <p:nvSpPr>
          <p:cNvPr id="4" name="Text Placeholder 3"/>
          <p:cNvSpPr>
            <a:spLocks noGrp="1"/>
          </p:cNvSpPr>
          <p:nvPr>
            <p:ph type="body" sz="half" idx="2"/>
          </p:nvPr>
        </p:nvSpPr>
        <p:spPr>
          <a:xfrm>
            <a:off x="2084817" y="12838271"/>
            <a:ext cx="9761984" cy="23784486"/>
          </a:xfrm>
        </p:spPr>
        <p:txBody>
          <a:bodyPr/>
          <a:lstStyle>
            <a:lvl1pPr marL="0" indent="0">
              <a:buNone/>
              <a:defRPr sz="5296"/>
            </a:lvl1pPr>
            <a:lvl2pPr marL="1513378" indent="0">
              <a:buNone/>
              <a:defRPr sz="4634"/>
            </a:lvl2pPr>
            <a:lvl3pPr marL="3026755" indent="0">
              <a:buNone/>
              <a:defRPr sz="3972"/>
            </a:lvl3pPr>
            <a:lvl4pPr marL="4540133" indent="0">
              <a:buNone/>
              <a:defRPr sz="3310"/>
            </a:lvl4pPr>
            <a:lvl5pPr marL="6053511" indent="0">
              <a:buNone/>
              <a:defRPr sz="3310"/>
            </a:lvl5pPr>
            <a:lvl6pPr marL="7566889" indent="0">
              <a:buNone/>
              <a:defRPr sz="3310"/>
            </a:lvl6pPr>
            <a:lvl7pPr marL="9080266" indent="0">
              <a:buNone/>
              <a:defRPr sz="3310"/>
            </a:lvl7pPr>
            <a:lvl8pPr marL="10593644" indent="0">
              <a:buNone/>
              <a:defRPr sz="3310"/>
            </a:lvl8pPr>
            <a:lvl9pPr marL="12107022"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627ADB1D-C313-7142-8C96-5C729C52BFF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3857594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ADB1D-C313-7142-8C96-5C729C52BFF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1276767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0020" y="2278397"/>
            <a:ext cx="6526381" cy="362661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0877" y="2278397"/>
            <a:ext cx="19200803" cy="362661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ADB1D-C313-7142-8C96-5C729C52BFF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09F3D6-B440-1644-BC79-23B5DB6365F0}" type="slidenum">
              <a:rPr lang="en-US" smtClean="0"/>
              <a:t>‹#›</a:t>
            </a:fld>
            <a:endParaRPr lang="en-US"/>
          </a:p>
        </p:txBody>
      </p:sp>
    </p:spTree>
    <p:extLst>
      <p:ext uri="{BB962C8B-B14F-4D97-AF65-F5344CB8AC3E}">
        <p14:creationId xmlns:p14="http://schemas.microsoft.com/office/powerpoint/2010/main" val="3260503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0875" y="2278406"/>
            <a:ext cx="26105525" cy="82715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0875" y="11391985"/>
            <a:ext cx="26105525" cy="271525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0875" y="39663928"/>
            <a:ext cx="6810137" cy="2278397"/>
          </a:xfrm>
          <a:prstGeom prst="rect">
            <a:avLst/>
          </a:prstGeom>
        </p:spPr>
        <p:txBody>
          <a:bodyPr vert="horz" lIns="91440" tIns="45720" rIns="91440" bIns="45720" rtlCol="0" anchor="ctr"/>
          <a:lstStyle>
            <a:lvl1pPr algn="l">
              <a:defRPr sz="3972">
                <a:solidFill>
                  <a:schemeClr val="tx1">
                    <a:tint val="82000"/>
                  </a:schemeClr>
                </a:solidFill>
              </a:defRPr>
            </a:lvl1pPr>
          </a:lstStyle>
          <a:p>
            <a:fld id="{627ADB1D-C313-7142-8C96-5C729C52BFF4}" type="datetimeFigureOut">
              <a:rPr lang="en-US" smtClean="0"/>
              <a:t>2/10/26</a:t>
            </a:fld>
            <a:endParaRPr lang="en-US"/>
          </a:p>
        </p:txBody>
      </p:sp>
      <p:sp>
        <p:nvSpPr>
          <p:cNvPr id="5" name="Footer Placeholder 4"/>
          <p:cNvSpPr>
            <a:spLocks noGrp="1"/>
          </p:cNvSpPr>
          <p:nvPr>
            <p:ph type="ftr" sz="quarter" idx="3"/>
          </p:nvPr>
        </p:nvSpPr>
        <p:spPr>
          <a:xfrm>
            <a:off x="10026035" y="39663928"/>
            <a:ext cx="10215205" cy="2278397"/>
          </a:xfrm>
          <a:prstGeom prst="rect">
            <a:avLst/>
          </a:prstGeom>
        </p:spPr>
        <p:txBody>
          <a:bodyPr vert="horz" lIns="91440" tIns="45720" rIns="91440" bIns="45720" rtlCol="0" anchor="ctr"/>
          <a:lstStyle>
            <a:lvl1pPr algn="ctr">
              <a:defRPr sz="397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76263" y="39663928"/>
            <a:ext cx="6810137" cy="2278397"/>
          </a:xfrm>
          <a:prstGeom prst="rect">
            <a:avLst/>
          </a:prstGeom>
        </p:spPr>
        <p:txBody>
          <a:bodyPr vert="horz" lIns="91440" tIns="45720" rIns="91440" bIns="45720" rtlCol="0" anchor="ctr"/>
          <a:lstStyle>
            <a:lvl1pPr algn="r">
              <a:defRPr sz="3972">
                <a:solidFill>
                  <a:schemeClr val="tx1">
                    <a:tint val="82000"/>
                  </a:schemeClr>
                </a:solidFill>
              </a:defRPr>
            </a:lvl1pPr>
          </a:lstStyle>
          <a:p>
            <a:fld id="{C309F3D6-B440-1644-BC79-23B5DB6365F0}" type="slidenum">
              <a:rPr lang="en-US" smtClean="0"/>
              <a:t>‹#›</a:t>
            </a:fld>
            <a:endParaRPr lang="en-US"/>
          </a:p>
        </p:txBody>
      </p:sp>
    </p:spTree>
    <p:extLst>
      <p:ext uri="{BB962C8B-B14F-4D97-AF65-F5344CB8AC3E}">
        <p14:creationId xmlns:p14="http://schemas.microsoft.com/office/powerpoint/2010/main" val="23396425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6755" rtl="0" eaLnBrk="1" latinLnBrk="0" hangingPunct="1">
        <a:lnSpc>
          <a:spcPct val="90000"/>
        </a:lnSpc>
        <a:spcBef>
          <a:spcPct val="0"/>
        </a:spcBef>
        <a:buNone/>
        <a:defRPr sz="14564" kern="1200">
          <a:solidFill>
            <a:schemeClr val="tx1"/>
          </a:solidFill>
          <a:latin typeface="+mj-lt"/>
          <a:ea typeface="+mj-ea"/>
          <a:cs typeface="+mj-cs"/>
        </a:defRPr>
      </a:lvl1pPr>
    </p:titleStyle>
    <p:bodyStyle>
      <a:lvl1pPr marL="756689" indent="-756689" algn="l" defTabSz="3026755" rtl="0" eaLnBrk="1" latinLnBrk="0" hangingPunct="1">
        <a:lnSpc>
          <a:spcPct val="90000"/>
        </a:lnSpc>
        <a:spcBef>
          <a:spcPts val="3310"/>
        </a:spcBef>
        <a:buFont typeface="Arial" panose="020B0604020202020204" pitchFamily="34" charset="0"/>
        <a:buChar char="•"/>
        <a:defRPr sz="9268" kern="1200">
          <a:solidFill>
            <a:schemeClr val="tx1"/>
          </a:solidFill>
          <a:latin typeface="+mn-lt"/>
          <a:ea typeface="+mn-ea"/>
          <a:cs typeface="+mn-cs"/>
        </a:defRPr>
      </a:lvl1pPr>
      <a:lvl2pPr marL="2270067" indent="-756689" algn="l" defTabSz="3026755" rtl="0" eaLnBrk="1" latinLnBrk="0" hangingPunct="1">
        <a:lnSpc>
          <a:spcPct val="90000"/>
        </a:lnSpc>
        <a:spcBef>
          <a:spcPts val="1655"/>
        </a:spcBef>
        <a:buFont typeface="Arial" panose="020B0604020202020204" pitchFamily="34" charset="0"/>
        <a:buChar char="•"/>
        <a:defRPr sz="7944" kern="1200">
          <a:solidFill>
            <a:schemeClr val="tx1"/>
          </a:solidFill>
          <a:latin typeface="+mn-lt"/>
          <a:ea typeface="+mn-ea"/>
          <a:cs typeface="+mn-cs"/>
        </a:defRPr>
      </a:lvl2pPr>
      <a:lvl3pPr marL="3783444" indent="-756689" algn="l" defTabSz="3026755" rtl="0" eaLnBrk="1" latinLnBrk="0" hangingPunct="1">
        <a:lnSpc>
          <a:spcPct val="90000"/>
        </a:lnSpc>
        <a:spcBef>
          <a:spcPts val="1655"/>
        </a:spcBef>
        <a:buFont typeface="Arial" panose="020B0604020202020204" pitchFamily="34" charset="0"/>
        <a:buChar char="•"/>
        <a:defRPr sz="6620" kern="1200">
          <a:solidFill>
            <a:schemeClr val="tx1"/>
          </a:solidFill>
          <a:latin typeface="+mn-lt"/>
          <a:ea typeface="+mn-ea"/>
          <a:cs typeface="+mn-cs"/>
        </a:defRPr>
      </a:lvl3pPr>
      <a:lvl4pPr marL="5296822"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4pPr>
      <a:lvl5pPr marL="6810200"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5pPr>
      <a:lvl6pPr marL="8323577"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6pPr>
      <a:lvl7pPr marL="9836955"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7pPr>
      <a:lvl8pPr marL="11350333"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8pPr>
      <a:lvl9pPr marL="12863711"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9pPr>
    </p:bodyStyle>
    <p:otherStyle>
      <a:defPPr>
        <a:defRPr lang="en-US"/>
      </a:defPPr>
      <a:lvl1pPr marL="0" algn="l" defTabSz="3026755" rtl="0" eaLnBrk="1" latinLnBrk="0" hangingPunct="1">
        <a:defRPr sz="5958" kern="1200">
          <a:solidFill>
            <a:schemeClr val="tx1"/>
          </a:solidFill>
          <a:latin typeface="+mn-lt"/>
          <a:ea typeface="+mn-ea"/>
          <a:cs typeface="+mn-cs"/>
        </a:defRPr>
      </a:lvl1pPr>
      <a:lvl2pPr marL="1513378" algn="l" defTabSz="3026755" rtl="0" eaLnBrk="1" latinLnBrk="0" hangingPunct="1">
        <a:defRPr sz="5958" kern="1200">
          <a:solidFill>
            <a:schemeClr val="tx1"/>
          </a:solidFill>
          <a:latin typeface="+mn-lt"/>
          <a:ea typeface="+mn-ea"/>
          <a:cs typeface="+mn-cs"/>
        </a:defRPr>
      </a:lvl2pPr>
      <a:lvl3pPr marL="3026755" algn="l" defTabSz="3026755" rtl="0" eaLnBrk="1" latinLnBrk="0" hangingPunct="1">
        <a:defRPr sz="5958" kern="1200">
          <a:solidFill>
            <a:schemeClr val="tx1"/>
          </a:solidFill>
          <a:latin typeface="+mn-lt"/>
          <a:ea typeface="+mn-ea"/>
          <a:cs typeface="+mn-cs"/>
        </a:defRPr>
      </a:lvl3pPr>
      <a:lvl4pPr marL="4540133" algn="l" defTabSz="3026755" rtl="0" eaLnBrk="1" latinLnBrk="0" hangingPunct="1">
        <a:defRPr sz="5958" kern="1200">
          <a:solidFill>
            <a:schemeClr val="tx1"/>
          </a:solidFill>
          <a:latin typeface="+mn-lt"/>
          <a:ea typeface="+mn-ea"/>
          <a:cs typeface="+mn-cs"/>
        </a:defRPr>
      </a:lvl4pPr>
      <a:lvl5pPr marL="6053511" algn="l" defTabSz="3026755" rtl="0" eaLnBrk="1" latinLnBrk="0" hangingPunct="1">
        <a:defRPr sz="5958" kern="1200">
          <a:solidFill>
            <a:schemeClr val="tx1"/>
          </a:solidFill>
          <a:latin typeface="+mn-lt"/>
          <a:ea typeface="+mn-ea"/>
          <a:cs typeface="+mn-cs"/>
        </a:defRPr>
      </a:lvl5pPr>
      <a:lvl6pPr marL="7566889" algn="l" defTabSz="3026755" rtl="0" eaLnBrk="1" latinLnBrk="0" hangingPunct="1">
        <a:defRPr sz="5958" kern="1200">
          <a:solidFill>
            <a:schemeClr val="tx1"/>
          </a:solidFill>
          <a:latin typeface="+mn-lt"/>
          <a:ea typeface="+mn-ea"/>
          <a:cs typeface="+mn-cs"/>
        </a:defRPr>
      </a:lvl6pPr>
      <a:lvl7pPr marL="9080266" algn="l" defTabSz="3026755" rtl="0" eaLnBrk="1" latinLnBrk="0" hangingPunct="1">
        <a:defRPr sz="5958" kern="1200">
          <a:solidFill>
            <a:schemeClr val="tx1"/>
          </a:solidFill>
          <a:latin typeface="+mn-lt"/>
          <a:ea typeface="+mn-ea"/>
          <a:cs typeface="+mn-cs"/>
        </a:defRPr>
      </a:lvl7pPr>
      <a:lvl8pPr marL="10593644" algn="l" defTabSz="3026755" rtl="0" eaLnBrk="1" latinLnBrk="0" hangingPunct="1">
        <a:defRPr sz="5958" kern="1200">
          <a:solidFill>
            <a:schemeClr val="tx1"/>
          </a:solidFill>
          <a:latin typeface="+mn-lt"/>
          <a:ea typeface="+mn-ea"/>
          <a:cs typeface="+mn-cs"/>
        </a:defRPr>
      </a:lvl8pPr>
      <a:lvl9pPr marL="12107022" algn="l" defTabSz="3026755" rtl="0" eaLnBrk="1" latinLnBrk="0" hangingPunct="1">
        <a:defRPr sz="59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4.png"/><Relationship Id="rId18" Type="http://schemas.openxmlformats.org/officeDocument/2006/relationships/image" Target="../media/image9.png"/><Relationship Id="rId26" Type="http://schemas.openxmlformats.org/officeDocument/2006/relationships/image" Target="../media/image17.jpg"/><Relationship Id="rId3" Type="http://schemas.openxmlformats.org/officeDocument/2006/relationships/tags" Target="../tags/tag3.xml"/><Relationship Id="rId21" Type="http://schemas.openxmlformats.org/officeDocument/2006/relationships/image" Target="../media/image12.png"/><Relationship Id="rId7" Type="http://schemas.openxmlformats.org/officeDocument/2006/relationships/tags" Target="../tags/tag7.xml"/><Relationship Id="rId12" Type="http://schemas.openxmlformats.org/officeDocument/2006/relationships/image" Target="../media/image3.emf"/><Relationship Id="rId17" Type="http://schemas.openxmlformats.org/officeDocument/2006/relationships/image" Target="../media/image8.png"/><Relationship Id="rId25" Type="http://schemas.openxmlformats.org/officeDocument/2006/relationships/image" Target="../media/image16.png"/><Relationship Id="rId2" Type="http://schemas.openxmlformats.org/officeDocument/2006/relationships/tags" Target="../tags/tag2.xml"/><Relationship Id="rId16" Type="http://schemas.openxmlformats.org/officeDocument/2006/relationships/image" Target="../media/image7.png"/><Relationship Id="rId20" Type="http://schemas.openxmlformats.org/officeDocument/2006/relationships/image" Target="../media/image11.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emf"/><Relationship Id="rId24" Type="http://schemas.openxmlformats.org/officeDocument/2006/relationships/image" Target="../media/image15.png"/><Relationship Id="rId5" Type="http://schemas.openxmlformats.org/officeDocument/2006/relationships/tags" Target="../tags/tag5.xml"/><Relationship Id="rId15" Type="http://schemas.openxmlformats.org/officeDocument/2006/relationships/image" Target="../media/image6.png"/><Relationship Id="rId23" Type="http://schemas.openxmlformats.org/officeDocument/2006/relationships/image" Target="../media/image14.png"/><Relationship Id="rId28" Type="http://schemas.openxmlformats.org/officeDocument/2006/relationships/image" Target="../media/image19.svg"/><Relationship Id="rId10" Type="http://schemas.openxmlformats.org/officeDocument/2006/relationships/image" Target="../media/image1.png"/><Relationship Id="rId19" Type="http://schemas.openxmlformats.org/officeDocument/2006/relationships/image" Target="../media/image10.png"/><Relationship Id="rId4" Type="http://schemas.openxmlformats.org/officeDocument/2006/relationships/tags" Target="../tags/tag4.xml"/><Relationship Id="rId9" Type="http://schemas.openxmlformats.org/officeDocument/2006/relationships/notesSlide" Target="../notesSlides/notesSlide1.xml"/><Relationship Id="rId14" Type="http://schemas.openxmlformats.org/officeDocument/2006/relationships/image" Target="../media/image5.png"/><Relationship Id="rId22" Type="http://schemas.openxmlformats.org/officeDocument/2006/relationships/image" Target="../media/image13.png"/><Relationship Id="rId27"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B9AE5-FCE4-97CE-BE8F-E60A0E2E70B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45C8934-F777-AD6B-2187-166A98C16709}"/>
              </a:ext>
            </a:extLst>
          </p:cNvPr>
          <p:cNvSpPr txBox="1"/>
          <p:nvPr/>
        </p:nvSpPr>
        <p:spPr>
          <a:xfrm>
            <a:off x="422047" y="4815111"/>
            <a:ext cx="12096256" cy="10998078"/>
          </a:xfrm>
          <a:prstGeom prst="rect">
            <a:avLst/>
          </a:prstGeom>
          <a:ln w="35814">
            <a:solidFill>
              <a:srgbClr val="FC8522"/>
            </a:solidFill>
          </a:ln>
        </p:spPr>
        <p:txBody>
          <a:bodyPr vert="horz" wrap="square" lIns="0" tIns="224095" rIns="0" bIns="0" rtlCol="0">
            <a:spAutoFit/>
          </a:bodyPr>
          <a:lstStyle/>
          <a:p>
            <a:pPr marL="372554">
              <a:spcBef>
                <a:spcPts val="1762"/>
              </a:spcBef>
            </a:pPr>
            <a:r>
              <a:rPr lang="en-AU" sz="4786" spc="107" dirty="0">
                <a:solidFill>
                  <a:srgbClr val="FC8522"/>
                </a:solidFill>
                <a:latin typeface="Times New Roman" panose="02020603050405020304" pitchFamily="18" charset="0"/>
                <a:cs typeface="Times New Roman" panose="02020603050405020304" pitchFamily="18" charset="0"/>
              </a:rPr>
              <a:t>Research Question</a:t>
            </a:r>
          </a:p>
          <a:p>
            <a:pPr marL="829754" marR="498094" indent="-457200">
              <a:lnSpc>
                <a:spcPct val="99900"/>
              </a:lnSpc>
              <a:spcBef>
                <a:spcPts val="4158"/>
              </a:spcBef>
              <a:buFont typeface="Arial" panose="020B0604020202020204" pitchFamily="34" charset="0"/>
              <a:buChar char="•"/>
            </a:pPr>
            <a:r>
              <a:rPr lang="en-US" sz="3401" spc="-11" dirty="0">
                <a:latin typeface="Times New Roman" panose="02020603050405020304" pitchFamily="18" charset="0"/>
                <a:cs typeface="Times New Roman" panose="02020603050405020304" pitchFamily="18" charset="0"/>
              </a:rPr>
              <a:t>Most successful demonstrations of multi-robot autonomy rely on accurate positioning information. While GPS remains the dominant localisation sensor, its performance is unreliable or unavailable in indoor, remote, and contested environments. </a:t>
            </a:r>
          </a:p>
          <a:p>
            <a:pPr marL="829754" marR="498094" indent="-457200">
              <a:lnSpc>
                <a:spcPct val="99900"/>
              </a:lnSpc>
              <a:spcBef>
                <a:spcPts val="4158"/>
              </a:spcBef>
              <a:buFont typeface="Arial" panose="020B0604020202020204" pitchFamily="34" charset="0"/>
              <a:buChar char="•"/>
            </a:pPr>
            <a:r>
              <a:rPr lang="en-US" sz="3401" spc="-11" dirty="0">
                <a:latin typeface="Times New Roman" panose="02020603050405020304" pitchFamily="18" charset="0"/>
                <a:cs typeface="Times New Roman" panose="02020603050405020304" pitchFamily="18" charset="0"/>
              </a:rPr>
              <a:t>As a result, cooperative localisation and SLAM approaches have gained increasing attention for enabling robust multi-robot navigation in GPS-denied areas.</a:t>
            </a:r>
          </a:p>
          <a:p>
            <a:pPr marL="829754" marR="498094" indent="-457200">
              <a:lnSpc>
                <a:spcPct val="99900"/>
              </a:lnSpc>
              <a:spcBef>
                <a:spcPts val="4158"/>
              </a:spcBef>
              <a:buFont typeface="Arial" panose="020B0604020202020204" pitchFamily="34" charset="0"/>
              <a:buChar char="•"/>
            </a:pPr>
            <a:r>
              <a:rPr lang="en-US" sz="3401" spc="-11" dirty="0">
                <a:latin typeface="Times New Roman" panose="02020603050405020304" pitchFamily="18" charset="0"/>
                <a:cs typeface="Times New Roman" panose="02020603050405020304" pitchFamily="18" charset="0"/>
              </a:rPr>
              <a:t>However, progress in this area is limited by the lack of </a:t>
            </a:r>
            <a:r>
              <a:rPr lang="en-US" sz="3401" b="1" spc="-11" dirty="0">
                <a:latin typeface="Times New Roman" panose="02020603050405020304" pitchFamily="18" charset="0"/>
                <a:cs typeface="Times New Roman" panose="02020603050405020304" pitchFamily="18" charset="0"/>
              </a:rPr>
              <a:t>high-quality real-world multi-robot collaborative localisation datasets</a:t>
            </a:r>
            <a:r>
              <a:rPr lang="en-US" sz="3401" spc="-11" dirty="0">
                <a:latin typeface="Times New Roman" panose="02020603050405020304" pitchFamily="18" charset="0"/>
                <a:cs typeface="Times New Roman" panose="02020603050405020304" pitchFamily="18" charset="0"/>
              </a:rPr>
              <a:t>. </a:t>
            </a:r>
          </a:p>
          <a:p>
            <a:pPr marL="829754" marR="498094" indent="-457200">
              <a:lnSpc>
                <a:spcPct val="99900"/>
              </a:lnSpc>
              <a:spcBef>
                <a:spcPts val="4158"/>
              </a:spcBef>
              <a:buFont typeface="Arial" panose="020B0604020202020204" pitchFamily="34" charset="0"/>
              <a:buChar char="•"/>
            </a:pPr>
            <a:r>
              <a:rPr lang="en-US" sz="3401" spc="-11" dirty="0">
                <a:latin typeface="Times New Roman" panose="02020603050405020304" pitchFamily="18" charset="0"/>
                <a:cs typeface="Times New Roman" panose="02020603050405020304" pitchFamily="18" charset="0"/>
              </a:rPr>
              <a:t>Such a dataset would allow for the testing of collaborative localisation algorithms under real-world circumstances and enable meaningful evaluation of the performance of different algorithms using a common benchmark dataset.</a:t>
            </a:r>
          </a:p>
          <a:p>
            <a:pPr marL="829754" marR="498094" indent="-457200">
              <a:lnSpc>
                <a:spcPct val="99900"/>
              </a:lnSpc>
              <a:spcBef>
                <a:spcPts val="4158"/>
              </a:spcBef>
              <a:buFont typeface="Arial" panose="020B0604020202020204" pitchFamily="34" charset="0"/>
              <a:buChar char="•"/>
            </a:pPr>
            <a:endParaRPr lang="en-US" sz="100" spc="-11" dirty="0">
              <a:latin typeface="Times New Roman" panose="02020603050405020304" pitchFamily="18" charset="0"/>
              <a:cs typeface="Times New Roman" panose="02020603050405020304" pitchFamily="18" charset="0"/>
            </a:endParaRPr>
          </a:p>
        </p:txBody>
      </p:sp>
      <p:sp>
        <p:nvSpPr>
          <p:cNvPr id="8" name="object 8">
            <a:extLst>
              <a:ext uri="{FF2B5EF4-FFF2-40B4-BE49-F238E27FC236}">
                <a16:creationId xmlns:a16="http://schemas.microsoft.com/office/drawing/2014/main" id="{C6A49324-B5BF-09F0-83A6-F46FD058E7D2}"/>
              </a:ext>
            </a:extLst>
          </p:cNvPr>
          <p:cNvSpPr/>
          <p:nvPr/>
        </p:nvSpPr>
        <p:spPr>
          <a:xfrm>
            <a:off x="390955" y="16079135"/>
            <a:ext cx="12187633" cy="22129791"/>
          </a:xfrm>
          <a:custGeom>
            <a:avLst/>
            <a:gdLst/>
            <a:ahLst/>
            <a:cxnLst/>
            <a:rect l="l" t="t" r="r" b="b"/>
            <a:pathLst>
              <a:path w="5800090" h="5277484">
                <a:moveTo>
                  <a:pt x="5799483" y="0"/>
                </a:moveTo>
                <a:lnTo>
                  <a:pt x="0" y="0"/>
                </a:lnTo>
                <a:lnTo>
                  <a:pt x="0" y="5277135"/>
                </a:lnTo>
                <a:lnTo>
                  <a:pt x="5799483" y="5277135"/>
                </a:lnTo>
                <a:lnTo>
                  <a:pt x="5799483" y="0"/>
                </a:lnTo>
                <a:close/>
              </a:path>
            </a:pathLst>
          </a:custGeom>
          <a:solidFill>
            <a:srgbClr val="EFEAE6"/>
          </a:solidFill>
        </p:spPr>
        <p:txBody>
          <a:bodyPr wrap="square" lIns="0" tIns="0" rIns="0" bIns="0" rtlCol="0"/>
          <a:lstStyle/>
          <a:p>
            <a:endParaRPr sz="1987"/>
          </a:p>
        </p:txBody>
      </p:sp>
      <p:sp>
        <p:nvSpPr>
          <p:cNvPr id="9" name="object 9 1">
            <a:extLst>
              <a:ext uri="{FF2B5EF4-FFF2-40B4-BE49-F238E27FC236}">
                <a16:creationId xmlns:a16="http://schemas.microsoft.com/office/drawing/2014/main" id="{698504C2-0E5A-6B5F-4B6D-7DDB98DD53BA}"/>
              </a:ext>
            </a:extLst>
          </p:cNvPr>
          <p:cNvSpPr/>
          <p:nvPr/>
        </p:nvSpPr>
        <p:spPr>
          <a:xfrm>
            <a:off x="12803416" y="4814321"/>
            <a:ext cx="17224530" cy="13944135"/>
          </a:xfrm>
          <a:custGeom>
            <a:avLst/>
            <a:gdLst/>
            <a:ahLst/>
            <a:cxnLst/>
            <a:rect l="l" t="t" r="r" b="b"/>
            <a:pathLst>
              <a:path w="7748269" h="5122545">
                <a:moveTo>
                  <a:pt x="7747790" y="0"/>
                </a:moveTo>
                <a:lnTo>
                  <a:pt x="0" y="0"/>
                </a:lnTo>
                <a:lnTo>
                  <a:pt x="0" y="5122218"/>
                </a:lnTo>
                <a:lnTo>
                  <a:pt x="7747790" y="5122218"/>
                </a:lnTo>
                <a:lnTo>
                  <a:pt x="7747790" y="0"/>
                </a:lnTo>
                <a:close/>
              </a:path>
            </a:pathLst>
          </a:custGeom>
          <a:solidFill>
            <a:srgbClr val="EFEAE6"/>
          </a:solidFill>
        </p:spPr>
        <p:txBody>
          <a:bodyPr wrap="square" lIns="0" tIns="0" rIns="0" bIns="0" rtlCol="0"/>
          <a:lstStyle/>
          <a:p>
            <a:endParaRPr sz="1987"/>
          </a:p>
        </p:txBody>
      </p:sp>
      <p:sp>
        <p:nvSpPr>
          <p:cNvPr id="12" name="object 12 1 1">
            <a:extLst>
              <a:ext uri="{FF2B5EF4-FFF2-40B4-BE49-F238E27FC236}">
                <a16:creationId xmlns:a16="http://schemas.microsoft.com/office/drawing/2014/main" id="{0477AC1A-B7C4-815E-BC5A-D811101DE5E7}"/>
              </a:ext>
            </a:extLst>
          </p:cNvPr>
          <p:cNvSpPr txBox="1"/>
          <p:nvPr/>
        </p:nvSpPr>
        <p:spPr>
          <a:xfrm>
            <a:off x="513844" y="15961337"/>
            <a:ext cx="12143930" cy="1001010"/>
          </a:xfrm>
          <a:prstGeom prst="rect">
            <a:avLst/>
          </a:prstGeom>
        </p:spPr>
        <p:txBody>
          <a:bodyPr vert="horz" wrap="square" lIns="0" tIns="28351" rIns="0" bIns="0" rtlCol="0">
            <a:spAutoFit/>
          </a:bodyPr>
          <a:lstStyle/>
          <a:p>
            <a:pPr marL="26998">
              <a:lnSpc>
                <a:spcPct val="150000"/>
              </a:lnSpc>
              <a:spcBef>
                <a:spcPts val="223"/>
              </a:spcBef>
            </a:pPr>
            <a:r>
              <a:rPr lang="en-AU" sz="4786" spc="-11" dirty="0">
                <a:solidFill>
                  <a:srgbClr val="FD8524"/>
                </a:solidFill>
                <a:latin typeface="Times New Roman" panose="02020603050405020304" pitchFamily="18" charset="0"/>
                <a:cs typeface="Times New Roman" panose="02020603050405020304" pitchFamily="18" charset="0"/>
              </a:rPr>
              <a:t>Cooperative Distributed Agent (CoDA) Dataset</a:t>
            </a:r>
          </a:p>
        </p:txBody>
      </p:sp>
      <p:sp>
        <p:nvSpPr>
          <p:cNvPr id="17" name="object 17">
            <a:extLst>
              <a:ext uri="{FF2B5EF4-FFF2-40B4-BE49-F238E27FC236}">
                <a16:creationId xmlns:a16="http://schemas.microsoft.com/office/drawing/2014/main" id="{86C4BC8D-CDEB-0D1B-D0AB-D211D0218319}"/>
              </a:ext>
            </a:extLst>
          </p:cNvPr>
          <p:cNvSpPr/>
          <p:nvPr/>
        </p:nvSpPr>
        <p:spPr>
          <a:xfrm>
            <a:off x="368655" y="38474872"/>
            <a:ext cx="12203889" cy="4040473"/>
          </a:xfrm>
          <a:custGeom>
            <a:avLst/>
            <a:gdLst/>
            <a:ahLst/>
            <a:cxnLst/>
            <a:rect l="l" t="t" r="r" b="b"/>
            <a:pathLst>
              <a:path w="5788025" h="4325619">
                <a:moveTo>
                  <a:pt x="5787999" y="0"/>
                </a:moveTo>
                <a:lnTo>
                  <a:pt x="0" y="0"/>
                </a:lnTo>
                <a:lnTo>
                  <a:pt x="0" y="4325015"/>
                </a:lnTo>
                <a:lnTo>
                  <a:pt x="5787999" y="4325015"/>
                </a:lnTo>
                <a:lnTo>
                  <a:pt x="5787999" y="0"/>
                </a:lnTo>
                <a:close/>
              </a:path>
            </a:pathLst>
          </a:custGeom>
          <a:solidFill>
            <a:srgbClr val="063D75"/>
          </a:solidFill>
        </p:spPr>
        <p:txBody>
          <a:bodyPr wrap="square" lIns="0" tIns="0" rIns="0" bIns="0" rtlCol="0"/>
          <a:lstStyle/>
          <a:p>
            <a:endParaRPr sz="1987"/>
          </a:p>
        </p:txBody>
      </p:sp>
      <p:sp>
        <p:nvSpPr>
          <p:cNvPr id="18" name="object 18 1">
            <a:extLst>
              <a:ext uri="{FF2B5EF4-FFF2-40B4-BE49-F238E27FC236}">
                <a16:creationId xmlns:a16="http://schemas.microsoft.com/office/drawing/2014/main" id="{690904A5-7F20-F87F-1777-0BDEABBA6DE1}"/>
              </a:ext>
            </a:extLst>
          </p:cNvPr>
          <p:cNvSpPr txBox="1"/>
          <p:nvPr/>
        </p:nvSpPr>
        <p:spPr>
          <a:xfrm>
            <a:off x="134124" y="38618517"/>
            <a:ext cx="11847308" cy="3639553"/>
          </a:xfrm>
          <a:prstGeom prst="rect">
            <a:avLst/>
          </a:prstGeom>
        </p:spPr>
        <p:txBody>
          <a:bodyPr vert="horz" wrap="square" lIns="0" tIns="28351" rIns="0" bIns="0" rtlCol="0">
            <a:spAutoFit/>
          </a:bodyPr>
          <a:lstStyle/>
          <a:p>
            <a:pPr marL="584479"/>
            <a:r>
              <a:rPr lang="en-AU" sz="4400" b="1" dirty="0">
                <a:solidFill>
                  <a:srgbClr val="FFFFFF"/>
                </a:solidFill>
                <a:latin typeface="Times New Roman" panose="02020603050405020304" pitchFamily="18" charset="0"/>
                <a:cs typeface="Times New Roman" panose="02020603050405020304" pitchFamily="18" charset="0"/>
              </a:rPr>
              <a:t>Collaboration with DSTG</a:t>
            </a:r>
          </a:p>
          <a:p>
            <a:pPr marL="584479"/>
            <a:endParaRPr lang="en-AU" sz="1000" dirty="0">
              <a:latin typeface="Times New Roman" panose="02020603050405020304" pitchFamily="18" charset="0"/>
              <a:cs typeface="Times New Roman" panose="02020603050405020304" pitchFamily="18" charset="0"/>
            </a:endParaRPr>
          </a:p>
          <a:p>
            <a:pPr marL="597980" marR="126884" indent="-572332">
              <a:lnSpc>
                <a:spcPct val="99500"/>
              </a:lnSpc>
              <a:buFont typeface="Arial"/>
              <a:buChar char="•"/>
              <a:tabLst>
                <a:tab pos="596628" algn="l"/>
                <a:tab pos="599328" algn="l"/>
              </a:tabLst>
            </a:pPr>
            <a:r>
              <a:rPr lang="en-AU" sz="3613" spc="-20" dirty="0">
                <a:solidFill>
                  <a:srgbClr val="FFFFFF"/>
                </a:solidFill>
                <a:latin typeface="Times New Roman" panose="02020603050405020304" pitchFamily="18" charset="0"/>
                <a:cs typeface="Times New Roman" panose="02020603050405020304" pitchFamily="18" charset="0"/>
              </a:rPr>
              <a:t>This work is part of the DSTG funded grant “</a:t>
            </a:r>
            <a:r>
              <a:rPr lang="en-AU" sz="3613" i="1" spc="-20" dirty="0">
                <a:solidFill>
                  <a:srgbClr val="FFFFFF"/>
                </a:solidFill>
                <a:latin typeface="Times New Roman" panose="02020603050405020304" pitchFamily="18" charset="0"/>
                <a:cs typeface="Times New Roman" panose="02020603050405020304" pitchFamily="18" charset="0"/>
              </a:rPr>
              <a:t>Variable topology distributed collaborative localisation and control</a:t>
            </a:r>
            <a:r>
              <a:rPr lang="en-AU" sz="3613" spc="-20" dirty="0">
                <a:solidFill>
                  <a:srgbClr val="FFFFFF"/>
                </a:solidFill>
                <a:latin typeface="Times New Roman" panose="02020603050405020304" pitchFamily="18" charset="0"/>
                <a:cs typeface="Times New Roman" panose="02020603050405020304" pitchFamily="18" charset="0"/>
              </a:rPr>
              <a:t>” UA216424-S08, with CIs Prof. Robert Mahony and Prof. Jochen Trumpf, in collaboration with Ground Systems Autonomy, Platforms Division, DSTG.</a:t>
            </a:r>
          </a:p>
        </p:txBody>
      </p:sp>
      <p:pic>
        <p:nvPicPr>
          <p:cNvPr id="178" name="Picture 177" descr="A black background with a gold crown&#10;&#10;AI-generated content may be incorrect.">
            <a:extLst>
              <a:ext uri="{FF2B5EF4-FFF2-40B4-BE49-F238E27FC236}">
                <a16:creationId xmlns:a16="http://schemas.microsoft.com/office/drawing/2014/main" id="{268CE0C4-20B7-CA93-4775-EDF220738C29}"/>
              </a:ext>
            </a:extLst>
          </p:cNvPr>
          <p:cNvPicPr>
            <a:picLocks noChangeAspect="1"/>
          </p:cNvPicPr>
          <p:nvPr/>
        </p:nvPicPr>
        <p:blipFill>
          <a:blip r:embed="rId10"/>
          <a:stretch>
            <a:fillRect/>
          </a:stretch>
        </p:blipFill>
        <p:spPr>
          <a:xfrm>
            <a:off x="513844" y="2887751"/>
            <a:ext cx="4101376" cy="1318945"/>
          </a:xfrm>
          <a:prstGeom prst="rect">
            <a:avLst/>
          </a:prstGeom>
        </p:spPr>
      </p:pic>
      <p:sp>
        <p:nvSpPr>
          <p:cNvPr id="188" name="object 24">
            <a:extLst>
              <a:ext uri="{FF2B5EF4-FFF2-40B4-BE49-F238E27FC236}">
                <a16:creationId xmlns:a16="http://schemas.microsoft.com/office/drawing/2014/main" id="{ED20AB5C-CDFC-B271-CCC4-24EB156422B3}"/>
              </a:ext>
            </a:extLst>
          </p:cNvPr>
          <p:cNvSpPr txBox="1"/>
          <p:nvPr/>
        </p:nvSpPr>
        <p:spPr>
          <a:xfrm>
            <a:off x="3126233" y="-147908"/>
            <a:ext cx="24014808" cy="2525384"/>
          </a:xfrm>
          <a:prstGeom prst="rect">
            <a:avLst/>
          </a:prstGeom>
        </p:spPr>
        <p:txBody>
          <a:bodyPr vert="horz" wrap="square" lIns="0" tIns="764299" rIns="0" bIns="0" rtlCol="0">
            <a:spAutoFit/>
          </a:bodyPr>
          <a:lstStyle/>
          <a:p>
            <a:pPr marR="486086" algn="ctr">
              <a:spcBef>
                <a:spcPts val="6017"/>
              </a:spcBef>
            </a:pPr>
            <a:r>
              <a:rPr lang="en-AU" sz="8399" b="1" spc="-20" dirty="0">
                <a:latin typeface="Times New Roman" panose="02020603050405020304" pitchFamily="18" charset="0"/>
                <a:cs typeface="Times New Roman" panose="02020603050405020304" pitchFamily="18" charset="0"/>
              </a:rPr>
              <a:t>Cooperative Distributed Agent Testbed Dataset</a:t>
            </a:r>
            <a:endParaRPr sz="8399" b="1" dirty="0">
              <a:latin typeface="Times New Roman" panose="02020603050405020304" pitchFamily="18" charset="0"/>
              <a:cs typeface="Times New Roman" panose="02020603050405020304" pitchFamily="18" charset="0"/>
            </a:endParaRPr>
          </a:p>
          <a:p>
            <a:pPr marR="568452" algn="ctr">
              <a:spcBef>
                <a:spcPts val="1326"/>
              </a:spcBef>
            </a:pPr>
            <a:endParaRPr sz="1913" dirty="0">
              <a:latin typeface="Times New Roman" panose="02020603050405020304" pitchFamily="18" charset="0"/>
              <a:cs typeface="Times New Roman" panose="02020603050405020304" pitchFamily="18" charset="0"/>
            </a:endParaRPr>
          </a:p>
        </p:txBody>
      </p:sp>
      <p:sp>
        <p:nvSpPr>
          <p:cNvPr id="189" name="TextBox 188">
            <a:extLst>
              <a:ext uri="{FF2B5EF4-FFF2-40B4-BE49-F238E27FC236}">
                <a16:creationId xmlns:a16="http://schemas.microsoft.com/office/drawing/2014/main" id="{A9C14FD5-EB8F-F2DC-735D-68902E994829}"/>
              </a:ext>
            </a:extLst>
          </p:cNvPr>
          <p:cNvSpPr txBox="1"/>
          <p:nvPr/>
        </p:nvSpPr>
        <p:spPr>
          <a:xfrm>
            <a:off x="5041610" y="2526513"/>
            <a:ext cx="9135233" cy="2554545"/>
          </a:xfrm>
          <a:prstGeom prst="rect">
            <a:avLst/>
          </a:prstGeom>
          <a:noFill/>
        </p:spPr>
        <p:txBody>
          <a:bodyPr wrap="square" rtlCol="0">
            <a:spAutoFit/>
          </a:bodyPr>
          <a:lstStyle/>
          <a:p>
            <a:pPr algn="ctr"/>
            <a:r>
              <a:rPr lang="en-US" sz="4000" dirty="0">
                <a:solidFill>
                  <a:srgbClr val="FD8520"/>
                </a:solidFill>
                <a:latin typeface="Times New Roman" panose="02020603050405020304" pitchFamily="18" charset="0"/>
                <a:cs typeface="Times New Roman" panose="02020603050405020304" pitchFamily="18" charset="0"/>
              </a:rPr>
              <a:t>System Theory and Robotics Group </a:t>
            </a:r>
          </a:p>
          <a:p>
            <a:pPr algn="ctr"/>
            <a:r>
              <a:rPr lang="en-US" sz="4000" dirty="0">
                <a:solidFill>
                  <a:srgbClr val="FD8520"/>
                </a:solidFill>
                <a:latin typeface="Times New Roman" panose="02020603050405020304" pitchFamily="18" charset="0"/>
                <a:cs typeface="Times New Roman" panose="02020603050405020304" pitchFamily="18" charset="0"/>
              </a:rPr>
              <a:t>School of Engineering</a:t>
            </a:r>
          </a:p>
          <a:p>
            <a:pPr algn="ctr"/>
            <a:r>
              <a:rPr lang="en-US" sz="4000" dirty="0">
                <a:solidFill>
                  <a:srgbClr val="FD8520"/>
                </a:solidFill>
                <a:latin typeface="Times New Roman" panose="02020603050405020304" pitchFamily="18" charset="0"/>
                <a:cs typeface="Times New Roman" panose="02020603050405020304" pitchFamily="18" charset="0"/>
              </a:rPr>
              <a:t>Australian National University</a:t>
            </a:r>
          </a:p>
          <a:p>
            <a:pPr algn="ctr"/>
            <a:endParaRPr lang="en-US" sz="4000" dirty="0">
              <a:solidFill>
                <a:srgbClr val="FD8520"/>
              </a:solidFill>
              <a:latin typeface="Times New Roman" panose="02020603050405020304" pitchFamily="18" charset="0"/>
              <a:cs typeface="Times New Roman" panose="02020603050405020304" pitchFamily="18" charset="0"/>
            </a:endParaRPr>
          </a:p>
        </p:txBody>
      </p:sp>
      <p:sp>
        <p:nvSpPr>
          <p:cNvPr id="1042" name="object 12 2 1">
            <a:extLst>
              <a:ext uri="{FF2B5EF4-FFF2-40B4-BE49-F238E27FC236}">
                <a16:creationId xmlns:a16="http://schemas.microsoft.com/office/drawing/2014/main" id="{69BC0868-612F-4574-351F-7E8CD7D9D218}"/>
              </a:ext>
            </a:extLst>
          </p:cNvPr>
          <p:cNvSpPr txBox="1"/>
          <p:nvPr/>
        </p:nvSpPr>
        <p:spPr>
          <a:xfrm>
            <a:off x="13198442" y="4808807"/>
            <a:ext cx="16055082" cy="1001010"/>
          </a:xfrm>
          <a:prstGeom prst="rect">
            <a:avLst/>
          </a:prstGeom>
        </p:spPr>
        <p:txBody>
          <a:bodyPr vert="horz" wrap="square" lIns="0" tIns="28351" rIns="0" bIns="0" rtlCol="0">
            <a:spAutoFit/>
          </a:bodyPr>
          <a:lstStyle/>
          <a:p>
            <a:pPr marL="26998">
              <a:lnSpc>
                <a:spcPct val="150000"/>
              </a:lnSpc>
              <a:spcBef>
                <a:spcPts val="223"/>
              </a:spcBef>
            </a:pPr>
            <a:r>
              <a:rPr lang="en-AU" sz="4786" spc="-11" dirty="0">
                <a:solidFill>
                  <a:srgbClr val="FD8524"/>
                </a:solidFill>
                <a:latin typeface="Times New Roman" panose="02020603050405020304" pitchFamily="18" charset="0"/>
                <a:cs typeface="Times New Roman" panose="02020603050405020304" pitchFamily="18" charset="0"/>
              </a:rPr>
              <a:t>Hardware Platform Design</a:t>
            </a:r>
          </a:p>
        </p:txBody>
      </p:sp>
      <p:sp>
        <p:nvSpPr>
          <p:cNvPr id="1145" name="object 9 2">
            <a:extLst>
              <a:ext uri="{FF2B5EF4-FFF2-40B4-BE49-F238E27FC236}">
                <a16:creationId xmlns:a16="http://schemas.microsoft.com/office/drawing/2014/main" id="{6BB4A638-09DF-7BCD-7792-D127DCE11397}"/>
              </a:ext>
            </a:extLst>
          </p:cNvPr>
          <p:cNvSpPr/>
          <p:nvPr/>
        </p:nvSpPr>
        <p:spPr>
          <a:xfrm>
            <a:off x="12807075" y="18973841"/>
            <a:ext cx="17220871" cy="23541504"/>
          </a:xfrm>
          <a:custGeom>
            <a:avLst/>
            <a:gdLst/>
            <a:ahLst/>
            <a:cxnLst/>
            <a:rect l="l" t="t" r="r" b="b"/>
            <a:pathLst>
              <a:path w="7748269" h="5122545">
                <a:moveTo>
                  <a:pt x="7747790" y="0"/>
                </a:moveTo>
                <a:lnTo>
                  <a:pt x="0" y="0"/>
                </a:lnTo>
                <a:lnTo>
                  <a:pt x="0" y="5122218"/>
                </a:lnTo>
                <a:lnTo>
                  <a:pt x="7747790" y="5122218"/>
                </a:lnTo>
                <a:lnTo>
                  <a:pt x="7747790" y="0"/>
                </a:lnTo>
                <a:close/>
              </a:path>
            </a:pathLst>
          </a:custGeom>
          <a:solidFill>
            <a:srgbClr val="EFEAE6"/>
          </a:solidFill>
        </p:spPr>
        <p:txBody>
          <a:bodyPr wrap="square" lIns="0" tIns="0" rIns="0" bIns="0" rtlCol="0"/>
          <a:lstStyle/>
          <a:p>
            <a:endParaRPr sz="1987"/>
          </a:p>
        </p:txBody>
      </p:sp>
      <p:pic>
        <p:nvPicPr>
          <p:cNvPr id="4" name="Picture 3">
            <a:extLst>
              <a:ext uri="{FF2B5EF4-FFF2-40B4-BE49-F238E27FC236}">
                <a16:creationId xmlns:a16="http://schemas.microsoft.com/office/drawing/2014/main" id="{5B887590-8C81-8BB6-56F7-2D6F58996602}"/>
              </a:ext>
            </a:extLst>
          </p:cNvPr>
          <p:cNvPicPr>
            <a:picLocks noChangeAspect="1"/>
          </p:cNvPicPr>
          <p:nvPr/>
        </p:nvPicPr>
        <p:blipFill>
          <a:blip r:embed="rId11"/>
          <a:srcRect l="6356" t="3281" r="13483" b="3062"/>
          <a:stretch>
            <a:fillRect/>
          </a:stretch>
        </p:blipFill>
        <p:spPr>
          <a:xfrm>
            <a:off x="22186255" y="5984330"/>
            <a:ext cx="7452691" cy="5844093"/>
          </a:xfrm>
          <a:prstGeom prst="rect">
            <a:avLst/>
          </a:prstGeom>
        </p:spPr>
      </p:pic>
      <p:pic>
        <p:nvPicPr>
          <p:cNvPr id="6" name="Picture 5">
            <a:extLst>
              <a:ext uri="{FF2B5EF4-FFF2-40B4-BE49-F238E27FC236}">
                <a16:creationId xmlns:a16="http://schemas.microsoft.com/office/drawing/2014/main" id="{F98247CC-E48D-87F2-CD3F-C21CA8341D3D}"/>
              </a:ext>
            </a:extLst>
          </p:cNvPr>
          <p:cNvPicPr>
            <a:picLocks noChangeAspect="1"/>
          </p:cNvPicPr>
          <p:nvPr/>
        </p:nvPicPr>
        <p:blipFill>
          <a:blip r:embed="rId12"/>
          <a:srcRect l="5502" b="7347"/>
          <a:stretch>
            <a:fillRect/>
          </a:stretch>
        </p:blipFill>
        <p:spPr>
          <a:xfrm>
            <a:off x="13082544" y="6002905"/>
            <a:ext cx="8812424" cy="5789268"/>
          </a:xfrm>
          <a:prstGeom prst="rect">
            <a:avLst/>
          </a:prstGeom>
        </p:spPr>
      </p:pic>
      <p:sp>
        <p:nvSpPr>
          <p:cNvPr id="5" name="object 12 1 2">
            <a:extLst>
              <a:ext uri="{FF2B5EF4-FFF2-40B4-BE49-F238E27FC236}">
                <a16:creationId xmlns:a16="http://schemas.microsoft.com/office/drawing/2014/main" id="{519F829B-FAEF-02BB-6723-A7361A9F0478}"/>
              </a:ext>
            </a:extLst>
          </p:cNvPr>
          <p:cNvSpPr txBox="1"/>
          <p:nvPr/>
        </p:nvSpPr>
        <p:spPr>
          <a:xfrm>
            <a:off x="494678" y="17027145"/>
            <a:ext cx="12023625" cy="16406253"/>
          </a:xfrm>
          <a:prstGeom prst="rect">
            <a:avLst/>
          </a:prstGeom>
        </p:spPr>
        <p:txBody>
          <a:bodyPr vert="horz" wrap="square" lIns="0" tIns="28351" rIns="0" bIns="0" rtlCol="0">
            <a:spAutoFit/>
          </a:bodyPr>
          <a:lstStyle/>
          <a:p>
            <a:pPr marL="711364" marR="670869" indent="-685717">
              <a:lnSpc>
                <a:spcPct val="150000"/>
              </a:lnSpc>
              <a:spcBef>
                <a:spcPts val="2722"/>
              </a:spcBef>
              <a:buFont typeface="Arial" panose="020B0604020202020204" pitchFamily="34" charset="0"/>
              <a:buChar char="•"/>
              <a:tabLst>
                <a:tab pos="712714" algn="l"/>
              </a:tabLst>
            </a:pPr>
            <a:r>
              <a:rPr lang="en-US" sz="3613" b="1" spc="-20" dirty="0" err="1">
                <a:latin typeface="Times New Roman" panose="02020603050405020304" pitchFamily="18" charset="0"/>
                <a:cs typeface="Times New Roman" panose="02020603050405020304" pitchFamily="18" charset="0"/>
              </a:rPr>
              <a:t>CoDA</a:t>
            </a:r>
            <a:r>
              <a:rPr lang="en-US" sz="3613" b="1" spc="-20" dirty="0">
                <a:latin typeface="Times New Roman" panose="02020603050405020304" pitchFamily="18" charset="0"/>
                <a:cs typeface="Times New Roman" panose="02020603050405020304" pitchFamily="18" charset="0"/>
              </a:rPr>
              <a:t> dataset </a:t>
            </a:r>
            <a:r>
              <a:rPr lang="en-US" sz="3613" spc="-20" dirty="0">
                <a:latin typeface="Times New Roman" panose="02020603050405020304" pitchFamily="18" charset="0"/>
                <a:cs typeface="Times New Roman" panose="02020603050405020304" pitchFamily="18" charset="0"/>
              </a:rPr>
              <a:t>is a comprehensive multi-vehicle collaborative localisation dataset collected using a fleet of </a:t>
            </a:r>
            <a:r>
              <a:rPr lang="en-US" sz="3613" b="1" spc="-20" dirty="0">
                <a:latin typeface="Times New Roman" panose="02020603050405020304" pitchFamily="18" charset="0"/>
                <a:cs typeface="Times New Roman" panose="02020603050405020304" pitchFamily="18" charset="0"/>
              </a:rPr>
              <a:t>three UAVs</a:t>
            </a:r>
            <a:r>
              <a:rPr lang="en-US" sz="3613" spc="-20" dirty="0">
                <a:latin typeface="Times New Roman" panose="02020603050405020304" pitchFamily="18" charset="0"/>
                <a:cs typeface="Times New Roman" panose="02020603050405020304" pitchFamily="18" charset="0"/>
              </a:rPr>
              <a:t>,</a:t>
            </a:r>
            <a:r>
              <a:rPr lang="en-US" sz="3613" b="1" spc="-20" dirty="0">
                <a:latin typeface="Times New Roman" panose="02020603050405020304" pitchFamily="18" charset="0"/>
                <a:cs typeface="Times New Roman" panose="02020603050405020304" pitchFamily="18" charset="0"/>
              </a:rPr>
              <a:t> three UGVs</a:t>
            </a:r>
            <a:r>
              <a:rPr lang="en-US" sz="3613" spc="-20" dirty="0">
                <a:latin typeface="Times New Roman" panose="02020603050405020304" pitchFamily="18" charset="0"/>
                <a:cs typeface="Times New Roman" panose="02020603050405020304" pitchFamily="18" charset="0"/>
              </a:rPr>
              <a:t>, and </a:t>
            </a:r>
            <a:r>
              <a:rPr lang="en-US" sz="3613" b="1" spc="-20" dirty="0">
                <a:latin typeface="Times New Roman" panose="02020603050405020304" pitchFamily="18" charset="0"/>
                <a:cs typeface="Times New Roman" panose="02020603050405020304" pitchFamily="18" charset="0"/>
              </a:rPr>
              <a:t>eight static landmarks</a:t>
            </a:r>
            <a:r>
              <a:rPr lang="en-US" sz="3613" spc="-20" dirty="0">
                <a:latin typeface="Times New Roman" panose="02020603050405020304" pitchFamily="18" charset="0"/>
                <a:cs typeface="Times New Roman" panose="02020603050405020304" pitchFamily="18" charset="0"/>
              </a:rPr>
              <a:t>.</a:t>
            </a:r>
          </a:p>
          <a:p>
            <a:pPr marL="711364" marR="670869" indent="-685717">
              <a:lnSpc>
                <a:spcPct val="150000"/>
              </a:lnSpc>
              <a:spcBef>
                <a:spcPts val="2722"/>
              </a:spcBef>
              <a:buFont typeface="Arial" panose="020B0604020202020204" pitchFamily="34" charset="0"/>
              <a:buChar char="•"/>
              <a:tabLst>
                <a:tab pos="712714" algn="l"/>
              </a:tabLst>
            </a:pPr>
            <a:endParaRPr lang="en-US" sz="3613" b="1" spc="-20" dirty="0">
              <a:latin typeface="Times New Roman" panose="02020603050405020304" pitchFamily="18" charset="0"/>
              <a:cs typeface="Times New Roman" panose="02020603050405020304" pitchFamily="18" charset="0"/>
            </a:endParaRPr>
          </a:p>
          <a:p>
            <a:pPr marL="711364" marR="670869" indent="-685717">
              <a:lnSpc>
                <a:spcPct val="150000"/>
              </a:lnSpc>
              <a:spcBef>
                <a:spcPts val="2722"/>
              </a:spcBef>
              <a:buFont typeface="Arial" panose="020B0604020202020204" pitchFamily="34" charset="0"/>
              <a:buChar char="•"/>
              <a:tabLst>
                <a:tab pos="712714" algn="l"/>
              </a:tabLst>
            </a:pPr>
            <a:endParaRPr lang="en-US" sz="3613" b="1" spc="-20" dirty="0">
              <a:latin typeface="Times New Roman" panose="02020603050405020304" pitchFamily="18" charset="0"/>
              <a:cs typeface="Times New Roman" panose="02020603050405020304" pitchFamily="18" charset="0"/>
            </a:endParaRPr>
          </a:p>
          <a:p>
            <a:pPr marL="711364" marR="670869" indent="-685717">
              <a:lnSpc>
                <a:spcPct val="150000"/>
              </a:lnSpc>
              <a:spcBef>
                <a:spcPts val="2722"/>
              </a:spcBef>
              <a:buFont typeface="Arial" panose="020B0604020202020204" pitchFamily="34" charset="0"/>
              <a:buChar char="•"/>
              <a:tabLst>
                <a:tab pos="712714" algn="l"/>
              </a:tabLst>
            </a:pPr>
            <a:endParaRPr lang="en-US" sz="3613" b="1" spc="-20" dirty="0">
              <a:latin typeface="Times New Roman" panose="02020603050405020304" pitchFamily="18" charset="0"/>
              <a:cs typeface="Times New Roman" panose="02020603050405020304" pitchFamily="18" charset="0"/>
            </a:endParaRPr>
          </a:p>
          <a:p>
            <a:pPr marL="711364" marR="670869" indent="-685717">
              <a:lnSpc>
                <a:spcPct val="150000"/>
              </a:lnSpc>
              <a:spcBef>
                <a:spcPts val="2722"/>
              </a:spcBef>
              <a:buFont typeface="Arial" panose="020B0604020202020204" pitchFamily="34" charset="0"/>
              <a:buChar char="•"/>
              <a:tabLst>
                <a:tab pos="712714" algn="l"/>
              </a:tabLst>
            </a:pPr>
            <a:endParaRPr lang="en-US" sz="3613" b="1" spc="-20" dirty="0">
              <a:latin typeface="Times New Roman" panose="02020603050405020304" pitchFamily="18" charset="0"/>
              <a:cs typeface="Times New Roman" panose="02020603050405020304" pitchFamily="18" charset="0"/>
            </a:endParaRPr>
          </a:p>
          <a:p>
            <a:pPr marL="711364" marR="670869" indent="-685717">
              <a:lnSpc>
                <a:spcPct val="150000"/>
              </a:lnSpc>
              <a:spcBef>
                <a:spcPts val="2722"/>
              </a:spcBef>
              <a:buFont typeface="Arial" panose="020B0604020202020204" pitchFamily="34" charset="0"/>
              <a:buChar char="•"/>
              <a:tabLst>
                <a:tab pos="712714" algn="l"/>
              </a:tabLst>
            </a:pPr>
            <a:endParaRPr lang="en-US" sz="3613" b="1" spc="-20" dirty="0">
              <a:latin typeface="Times New Roman" panose="02020603050405020304" pitchFamily="18" charset="0"/>
              <a:cs typeface="Times New Roman" panose="02020603050405020304" pitchFamily="18" charset="0"/>
            </a:endParaRPr>
          </a:p>
          <a:p>
            <a:pPr marL="711364" marR="670869" indent="-685717">
              <a:lnSpc>
                <a:spcPct val="150000"/>
              </a:lnSpc>
              <a:spcBef>
                <a:spcPts val="2722"/>
              </a:spcBef>
              <a:buFont typeface="Arial" panose="020B0604020202020204" pitchFamily="34" charset="0"/>
              <a:buChar char="•"/>
              <a:tabLst>
                <a:tab pos="712714" algn="l"/>
              </a:tabLst>
            </a:pPr>
            <a:r>
              <a:rPr lang="en-US" sz="3613" b="1" spc="-20" dirty="0">
                <a:latin typeface="Times New Roman" panose="02020603050405020304" pitchFamily="18" charset="0"/>
                <a:cs typeface="Times New Roman" panose="02020603050405020304" pitchFamily="18" charset="0"/>
              </a:rPr>
              <a:t>Processed dataset HDF5 filesystem structure</a:t>
            </a:r>
          </a:p>
          <a:p>
            <a:pPr marL="711364" marR="670869" indent="-685717">
              <a:lnSpc>
                <a:spcPct val="150000"/>
              </a:lnSpc>
              <a:spcBef>
                <a:spcPts val="2722"/>
              </a:spcBef>
              <a:buFont typeface="Arial" panose="020B0604020202020204" pitchFamily="34" charset="0"/>
              <a:buChar char="•"/>
              <a:tabLst>
                <a:tab pos="712714" algn="l"/>
              </a:tabLst>
            </a:pPr>
            <a:endParaRPr lang="en-US" sz="3613" spc="-20" dirty="0">
              <a:latin typeface="Times New Roman" panose="02020603050405020304" pitchFamily="18" charset="0"/>
              <a:cs typeface="Times New Roman" panose="02020603050405020304" pitchFamily="18" charset="0"/>
            </a:endParaRPr>
          </a:p>
          <a:p>
            <a:pPr marL="711364" marR="670869" indent="-685717">
              <a:lnSpc>
                <a:spcPct val="150000"/>
              </a:lnSpc>
              <a:spcBef>
                <a:spcPts val="2722"/>
              </a:spcBef>
              <a:buFont typeface="Arial" panose="020B0604020202020204" pitchFamily="34" charset="0"/>
              <a:buChar char="•"/>
              <a:tabLst>
                <a:tab pos="712714" algn="l"/>
              </a:tabLst>
            </a:pPr>
            <a:endParaRPr lang="en-US" sz="3613" spc="-20" dirty="0">
              <a:latin typeface="Times New Roman" panose="02020603050405020304" pitchFamily="18" charset="0"/>
              <a:cs typeface="Times New Roman" panose="02020603050405020304" pitchFamily="18" charset="0"/>
            </a:endParaRPr>
          </a:p>
          <a:p>
            <a:pPr marL="25647" marR="670869">
              <a:lnSpc>
                <a:spcPct val="150000"/>
              </a:lnSpc>
              <a:spcBef>
                <a:spcPts val="2722"/>
              </a:spcBef>
              <a:tabLst>
                <a:tab pos="712714" algn="l"/>
              </a:tabLst>
            </a:pPr>
            <a:endParaRPr lang="en-US" sz="3613" spc="-20" dirty="0">
              <a:latin typeface="Times New Roman" panose="02020603050405020304" pitchFamily="18" charset="0"/>
              <a:cs typeface="Times New Roman" panose="02020603050405020304" pitchFamily="18" charset="0"/>
            </a:endParaRPr>
          </a:p>
          <a:p>
            <a:pPr marL="711364" marR="670869" indent="-685717">
              <a:lnSpc>
                <a:spcPct val="150000"/>
              </a:lnSpc>
              <a:spcBef>
                <a:spcPts val="2722"/>
              </a:spcBef>
              <a:buFont typeface="Arial" panose="020B0604020202020204" pitchFamily="34" charset="0"/>
              <a:buChar char="•"/>
              <a:tabLst>
                <a:tab pos="712714" algn="l"/>
              </a:tabLst>
            </a:pPr>
            <a:endParaRPr lang="en-US" sz="3613" spc="-20" dirty="0">
              <a:latin typeface="Times New Roman" panose="02020603050405020304" pitchFamily="18" charset="0"/>
              <a:cs typeface="Times New Roman" panose="02020603050405020304" pitchFamily="18" charset="0"/>
            </a:endParaRPr>
          </a:p>
          <a:p>
            <a:pPr marL="711364" marR="670869" indent="-685717">
              <a:lnSpc>
                <a:spcPct val="150000"/>
              </a:lnSpc>
              <a:spcBef>
                <a:spcPts val="2722"/>
              </a:spcBef>
              <a:buFont typeface="Arial" panose="020B0604020202020204" pitchFamily="34" charset="0"/>
              <a:buChar char="•"/>
              <a:tabLst>
                <a:tab pos="712714" algn="l"/>
              </a:tabLst>
            </a:pPr>
            <a:endParaRPr lang="en-US" sz="2800" b="1" spc="-20" dirty="0">
              <a:latin typeface="Times New Roman" panose="02020603050405020304" pitchFamily="18" charset="0"/>
              <a:cs typeface="Times New Roman" panose="02020603050405020304" pitchFamily="18" charset="0"/>
            </a:endParaRPr>
          </a:p>
          <a:p>
            <a:pPr marL="711364" marR="670869" indent="-685717">
              <a:lnSpc>
                <a:spcPct val="150000"/>
              </a:lnSpc>
              <a:spcBef>
                <a:spcPts val="2722"/>
              </a:spcBef>
              <a:buFont typeface="Arial" panose="020B0604020202020204" pitchFamily="34" charset="0"/>
              <a:buChar char="•"/>
              <a:tabLst>
                <a:tab pos="712714" algn="l"/>
              </a:tabLst>
            </a:pPr>
            <a:r>
              <a:rPr lang="en-US" sz="3613" b="1" spc="-20" dirty="0">
                <a:latin typeface="Times New Roman" panose="02020603050405020304" pitchFamily="18" charset="0"/>
                <a:cs typeface="Times New Roman" panose="02020603050405020304" pitchFamily="18" charset="0"/>
              </a:rPr>
              <a:t>10 different mission profiles</a:t>
            </a:r>
            <a:endParaRPr lang="en-US" sz="3613" b="1"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56ABEA64-6094-FD21-6302-23B5E07C5164}"/>
              </a:ext>
            </a:extLst>
          </p:cNvPr>
          <p:cNvPicPr>
            <a:picLocks noChangeAspect="1"/>
          </p:cNvPicPr>
          <p:nvPr>
            <p:custDataLst>
              <p:tags r:id="rId1"/>
            </p:custDataLst>
          </p:nvPr>
        </p:nvPicPr>
        <p:blipFill>
          <a:blip r:embed="rId13"/>
          <a:stretch>
            <a:fillRect/>
          </a:stretch>
        </p:blipFill>
        <p:spPr>
          <a:xfrm>
            <a:off x="823777" y="26875440"/>
            <a:ext cx="11475991" cy="5534959"/>
          </a:xfrm>
          <a:prstGeom prst="rect">
            <a:avLst/>
          </a:prstGeom>
        </p:spPr>
      </p:pic>
      <p:pic>
        <p:nvPicPr>
          <p:cNvPr id="24" name="Picture 23" descr="A graph of a graph with colored lines&#10;&#10;AI-generated content may be incorrect.">
            <a:extLst>
              <a:ext uri="{FF2B5EF4-FFF2-40B4-BE49-F238E27FC236}">
                <a16:creationId xmlns:a16="http://schemas.microsoft.com/office/drawing/2014/main" id="{3C944CA0-69A4-97C2-269E-52B906AB4E48}"/>
              </a:ext>
            </a:extLst>
          </p:cNvPr>
          <p:cNvPicPr>
            <a:picLocks noChangeAspect="1"/>
          </p:cNvPicPr>
          <p:nvPr/>
        </p:nvPicPr>
        <p:blipFill>
          <a:blip r:embed="rId14"/>
          <a:srcRect l="2647" t="14805" b="8938"/>
          <a:stretch>
            <a:fillRect/>
          </a:stretch>
        </p:blipFill>
        <p:spPr>
          <a:xfrm>
            <a:off x="513844" y="33567472"/>
            <a:ext cx="5824821" cy="4451329"/>
          </a:xfrm>
          <a:prstGeom prst="rect">
            <a:avLst/>
          </a:prstGeom>
        </p:spPr>
      </p:pic>
      <p:pic>
        <p:nvPicPr>
          <p:cNvPr id="26" name="Picture 25" descr="A graph of a graph showing different colored lines&#10;&#10;AI-generated content may be incorrect.">
            <a:extLst>
              <a:ext uri="{FF2B5EF4-FFF2-40B4-BE49-F238E27FC236}">
                <a16:creationId xmlns:a16="http://schemas.microsoft.com/office/drawing/2014/main" id="{303B3294-D6FE-9C35-CA56-880A7A8C7978}"/>
              </a:ext>
            </a:extLst>
          </p:cNvPr>
          <p:cNvPicPr>
            <a:picLocks noChangeAspect="1"/>
          </p:cNvPicPr>
          <p:nvPr/>
        </p:nvPicPr>
        <p:blipFill>
          <a:blip r:embed="rId15"/>
          <a:srcRect l="2149" t="14460" b="9223"/>
          <a:stretch>
            <a:fillRect/>
          </a:stretch>
        </p:blipFill>
        <p:spPr>
          <a:xfrm>
            <a:off x="6534821" y="33544237"/>
            <a:ext cx="5764947" cy="4419729"/>
          </a:xfrm>
          <a:prstGeom prst="rect">
            <a:avLst/>
          </a:prstGeom>
        </p:spPr>
      </p:pic>
      <p:pic>
        <p:nvPicPr>
          <p:cNvPr id="31" name="Picture 30">
            <a:extLst>
              <a:ext uri="{FF2B5EF4-FFF2-40B4-BE49-F238E27FC236}">
                <a16:creationId xmlns:a16="http://schemas.microsoft.com/office/drawing/2014/main" id="{F42BAFD5-6C70-32BD-71EC-FBCDF7C38B1F}"/>
              </a:ext>
            </a:extLst>
          </p:cNvPr>
          <p:cNvPicPr>
            <a:picLocks noChangeAspect="1"/>
          </p:cNvPicPr>
          <p:nvPr/>
        </p:nvPicPr>
        <p:blipFill>
          <a:blip r:embed="rId16"/>
          <a:stretch>
            <a:fillRect/>
          </a:stretch>
        </p:blipFill>
        <p:spPr>
          <a:xfrm>
            <a:off x="12879312" y="35165242"/>
            <a:ext cx="8115650" cy="6922557"/>
          </a:xfrm>
          <a:prstGeom prst="rect">
            <a:avLst/>
          </a:prstGeom>
        </p:spPr>
      </p:pic>
      <p:pic>
        <p:nvPicPr>
          <p:cNvPr id="32" name="Picture 31">
            <a:extLst>
              <a:ext uri="{FF2B5EF4-FFF2-40B4-BE49-F238E27FC236}">
                <a16:creationId xmlns:a16="http://schemas.microsoft.com/office/drawing/2014/main" id="{ADF6BED2-E433-1F4C-63AC-BE93437B81ED}"/>
              </a:ext>
            </a:extLst>
          </p:cNvPr>
          <p:cNvPicPr>
            <a:picLocks noChangeAspect="1"/>
          </p:cNvPicPr>
          <p:nvPr/>
        </p:nvPicPr>
        <p:blipFill>
          <a:blip r:embed="rId17"/>
          <a:stretch>
            <a:fillRect/>
          </a:stretch>
        </p:blipFill>
        <p:spPr>
          <a:xfrm>
            <a:off x="21064901" y="34792382"/>
            <a:ext cx="8828738" cy="3763942"/>
          </a:xfrm>
          <a:prstGeom prst="rect">
            <a:avLst/>
          </a:prstGeom>
        </p:spPr>
      </p:pic>
      <p:pic>
        <p:nvPicPr>
          <p:cNvPr id="34" name="Picture 33">
            <a:extLst>
              <a:ext uri="{FF2B5EF4-FFF2-40B4-BE49-F238E27FC236}">
                <a16:creationId xmlns:a16="http://schemas.microsoft.com/office/drawing/2014/main" id="{57197973-0916-2355-F9F0-8EB0A98572E5}"/>
              </a:ext>
            </a:extLst>
          </p:cNvPr>
          <p:cNvPicPr>
            <a:picLocks noChangeAspect="1"/>
          </p:cNvPicPr>
          <p:nvPr/>
        </p:nvPicPr>
        <p:blipFill>
          <a:blip r:embed="rId18"/>
          <a:stretch>
            <a:fillRect/>
          </a:stretch>
        </p:blipFill>
        <p:spPr>
          <a:xfrm>
            <a:off x="21064901" y="38556324"/>
            <a:ext cx="8853818" cy="3763941"/>
          </a:xfrm>
          <a:prstGeom prst="rect">
            <a:avLst/>
          </a:prstGeom>
        </p:spPr>
      </p:pic>
      <p:sp>
        <p:nvSpPr>
          <p:cNvPr id="35" name="object 12 1">
            <a:extLst>
              <a:ext uri="{FF2B5EF4-FFF2-40B4-BE49-F238E27FC236}">
                <a16:creationId xmlns:a16="http://schemas.microsoft.com/office/drawing/2014/main" id="{44DCA653-9202-B84D-5569-DB4C39850DFA}"/>
              </a:ext>
            </a:extLst>
          </p:cNvPr>
          <p:cNvSpPr txBox="1"/>
          <p:nvPr/>
        </p:nvSpPr>
        <p:spPr>
          <a:xfrm>
            <a:off x="13151974" y="18983824"/>
            <a:ext cx="16668774" cy="18081006"/>
          </a:xfrm>
          <a:prstGeom prst="rect">
            <a:avLst/>
          </a:prstGeom>
        </p:spPr>
        <p:txBody>
          <a:bodyPr vert="horz" wrap="square" lIns="0" tIns="28351" rIns="0" bIns="0" rtlCol="0">
            <a:spAutoFit/>
          </a:bodyPr>
          <a:lstStyle/>
          <a:p>
            <a:pPr marL="26998">
              <a:lnSpc>
                <a:spcPct val="150000"/>
              </a:lnSpc>
              <a:spcBef>
                <a:spcPts val="223"/>
              </a:spcBef>
            </a:pPr>
            <a:r>
              <a:rPr lang="en-AU" sz="4786" spc="-11" dirty="0">
                <a:solidFill>
                  <a:srgbClr val="FD8524"/>
                </a:solidFill>
                <a:latin typeface="Times New Roman" panose="02020603050405020304" pitchFamily="18" charset="0"/>
                <a:cs typeface="Times New Roman" panose="02020603050405020304" pitchFamily="18" charset="0"/>
              </a:rPr>
              <a:t>Equivariant Filter (EqF) using </a:t>
            </a:r>
            <a:r>
              <a:rPr lang="en-AU" sz="4786" b="1" spc="-11" dirty="0">
                <a:solidFill>
                  <a:srgbClr val="FD8524"/>
                </a:solidFill>
                <a:latin typeface="Times New Roman" panose="02020603050405020304" pitchFamily="18" charset="0"/>
                <a:cs typeface="Times New Roman" panose="02020603050405020304" pitchFamily="18" charset="0"/>
              </a:rPr>
              <a:t>SOT</a:t>
            </a:r>
            <a:r>
              <a:rPr lang="en-AU" sz="4786" spc="-11" dirty="0">
                <a:solidFill>
                  <a:srgbClr val="FD8524"/>
                </a:solidFill>
                <a:latin typeface="Times New Roman" panose="02020603050405020304" pitchFamily="18" charset="0"/>
                <a:cs typeface="Times New Roman" panose="02020603050405020304" pitchFamily="18" charset="0"/>
              </a:rPr>
              <a:t>(3) Symmetry</a:t>
            </a:r>
          </a:p>
          <a:p>
            <a:pPr marL="711364" marR="670869" indent="-685717">
              <a:lnSpc>
                <a:spcPct val="150000"/>
              </a:lnSpc>
              <a:spcBef>
                <a:spcPts val="2722"/>
              </a:spcBef>
              <a:buFont typeface="Arial" panose="020B0604020202020204" pitchFamily="34" charset="0"/>
              <a:buChar char="•"/>
              <a:tabLst>
                <a:tab pos="712714" algn="l"/>
              </a:tabLst>
            </a:pPr>
            <a:r>
              <a:rPr lang="en-US" sz="3613" spc="-20" dirty="0">
                <a:latin typeface="Times New Roman" panose="02020603050405020304" pitchFamily="18" charset="0"/>
                <a:cs typeface="Times New Roman" panose="02020603050405020304" pitchFamily="18" charset="0"/>
              </a:rPr>
              <a:t>Define the </a:t>
            </a:r>
            <a:r>
              <a:rPr lang="en-US" sz="3613" b="1" spc="-20" dirty="0">
                <a:latin typeface="Times New Roman" panose="02020603050405020304" pitchFamily="18" charset="0"/>
                <a:cs typeface="Times New Roman" panose="02020603050405020304" pitchFamily="18" charset="0"/>
              </a:rPr>
              <a:t>Range-SLAM Group:</a:t>
            </a:r>
          </a:p>
          <a:p>
            <a:pPr marL="1168564" marR="670869" lvl="1" indent="-685717">
              <a:lnSpc>
                <a:spcPct val="150000"/>
              </a:lnSpc>
              <a:spcBef>
                <a:spcPts val="2722"/>
              </a:spcBef>
              <a:buFont typeface="Wingdings" pitchFamily="2" charset="2"/>
              <a:buChar char="v"/>
              <a:tabLst>
                <a:tab pos="712714" algn="l"/>
              </a:tabLst>
            </a:pPr>
            <a:r>
              <a:rPr lang="en-US" sz="3613" spc="-20" dirty="0">
                <a:latin typeface="Times New Roman" panose="02020603050405020304" pitchFamily="18" charset="0"/>
                <a:cs typeface="Times New Roman" panose="02020603050405020304" pitchFamily="18" charset="0"/>
              </a:rPr>
              <a:t>The </a:t>
            </a:r>
            <a:r>
              <a:rPr lang="en-US" sz="3613" b="1" i="1" spc="-20" dirty="0">
                <a:latin typeface="Times New Roman" panose="02020603050405020304" pitchFamily="18" charset="0"/>
                <a:cs typeface="Times New Roman" panose="02020603050405020304" pitchFamily="18" charset="0"/>
              </a:rPr>
              <a:t>Scaled orthogonal transformations                 </a:t>
            </a:r>
            <a:r>
              <a:rPr lang="en-US" sz="3613" spc="-20" dirty="0">
                <a:latin typeface="Times New Roman" panose="02020603050405020304" pitchFamily="18" charset="0"/>
                <a:cs typeface="Times New Roman" panose="02020603050405020304" pitchFamily="18" charset="0"/>
              </a:rPr>
              <a:t>are scaled rotations:</a:t>
            </a:r>
          </a:p>
          <a:p>
            <a:pPr marL="1168564" marR="670869" lvl="1" indent="-685717">
              <a:lnSpc>
                <a:spcPct val="150000"/>
              </a:lnSpc>
              <a:spcBef>
                <a:spcPts val="2722"/>
              </a:spcBef>
              <a:buFont typeface="Arial" panose="020B0604020202020204" pitchFamily="34" charset="0"/>
              <a:buChar char="•"/>
              <a:tabLst>
                <a:tab pos="712714" algn="l"/>
              </a:tabLst>
            </a:pPr>
            <a:endParaRPr lang="en-US" sz="1000" spc="-20" dirty="0">
              <a:latin typeface="Times New Roman" panose="02020603050405020304" pitchFamily="18" charset="0"/>
              <a:cs typeface="Times New Roman" panose="02020603050405020304" pitchFamily="18" charset="0"/>
            </a:endParaRPr>
          </a:p>
          <a:p>
            <a:pPr marL="482847" marR="670869" lvl="1">
              <a:lnSpc>
                <a:spcPct val="150000"/>
              </a:lnSpc>
              <a:spcBef>
                <a:spcPts val="2722"/>
              </a:spcBef>
              <a:tabLst>
                <a:tab pos="712714" algn="l"/>
              </a:tabLst>
            </a:pPr>
            <a:r>
              <a:rPr lang="en-US" sz="3613" spc="-20" dirty="0">
                <a:latin typeface="Times New Roman" panose="02020603050405020304" pitchFamily="18" charset="0"/>
                <a:cs typeface="Times New Roman" panose="02020603050405020304" pitchFamily="18" charset="0"/>
              </a:rPr>
              <a:t>		  where                         is a rotation and                  is a scaling factor.</a:t>
            </a:r>
            <a:endParaRPr lang="en-US" sz="4000" b="1" dirty="0">
              <a:latin typeface="Times New Roman" panose="02020603050405020304" pitchFamily="18" charset="0"/>
              <a:cs typeface="Times New Roman" panose="02020603050405020304" pitchFamily="18" charset="0"/>
            </a:endParaRPr>
          </a:p>
          <a:p>
            <a:pPr marL="1054347" marR="670869" lvl="1" indent="-571500">
              <a:lnSpc>
                <a:spcPct val="150000"/>
              </a:lnSpc>
              <a:spcBef>
                <a:spcPts val="2722"/>
              </a:spcBef>
              <a:buFont typeface="Arial" panose="020B0604020202020204" pitchFamily="34" charset="0"/>
              <a:buChar char="•"/>
              <a:tabLst>
                <a:tab pos="712714" algn="l"/>
              </a:tabLst>
            </a:pPr>
            <a:endParaRPr lang="en-US" sz="2000" b="1" dirty="0">
              <a:latin typeface="Times New Roman" panose="02020603050405020304" pitchFamily="18" charset="0"/>
              <a:cs typeface="Times New Roman" panose="02020603050405020304" pitchFamily="18" charset="0"/>
            </a:endParaRPr>
          </a:p>
          <a:p>
            <a:pPr marL="1054347" marR="670869" lvl="1" indent="-571500">
              <a:lnSpc>
                <a:spcPct val="150000"/>
              </a:lnSpc>
              <a:spcBef>
                <a:spcPts val="2722"/>
              </a:spcBef>
              <a:buFont typeface="Arial" panose="020B0604020202020204" pitchFamily="34" charset="0"/>
              <a:buChar char="•"/>
              <a:tabLst>
                <a:tab pos="712714" algn="l"/>
              </a:tabLst>
            </a:pPr>
            <a:r>
              <a:rPr lang="en-US" sz="4000" dirty="0">
                <a:latin typeface="Times New Roman" panose="02020603050405020304" pitchFamily="18" charset="0"/>
                <a:cs typeface="Times New Roman" panose="02020603050405020304" pitchFamily="18" charset="0"/>
              </a:rPr>
              <a:t>Coordinate chart on </a:t>
            </a:r>
            <a:r>
              <a:rPr lang="en-US" sz="4000" b="1" dirty="0">
                <a:latin typeface="Times New Roman" panose="02020603050405020304" pitchFamily="18" charset="0"/>
                <a:cs typeface="Times New Roman" panose="02020603050405020304" pitchFamily="18" charset="0"/>
              </a:rPr>
              <a:t>SOT(3)</a:t>
            </a:r>
          </a:p>
          <a:p>
            <a:pPr marL="1054347" marR="670869" lvl="1" indent="-571500">
              <a:lnSpc>
                <a:spcPct val="150000"/>
              </a:lnSpc>
              <a:spcBef>
                <a:spcPts val="2722"/>
              </a:spcBef>
              <a:buFont typeface="Arial" panose="020B0604020202020204" pitchFamily="34" charset="0"/>
              <a:buChar char="•"/>
              <a:tabLst>
                <a:tab pos="712714" algn="l"/>
              </a:tabLst>
            </a:pPr>
            <a:endParaRPr lang="en-US" sz="2400" b="1" dirty="0">
              <a:latin typeface="Times New Roman" panose="02020603050405020304" pitchFamily="18" charset="0"/>
              <a:cs typeface="Times New Roman" panose="02020603050405020304" pitchFamily="18" charset="0"/>
            </a:endParaRPr>
          </a:p>
          <a:p>
            <a:pPr marL="1054347" marR="670869" lvl="1" indent="-571500">
              <a:lnSpc>
                <a:spcPct val="150000"/>
              </a:lnSpc>
              <a:spcBef>
                <a:spcPts val="2722"/>
              </a:spcBef>
              <a:buFont typeface="Arial" panose="020B0604020202020204" pitchFamily="34" charset="0"/>
              <a:buChar char="•"/>
              <a:tabLst>
                <a:tab pos="712714" algn="l"/>
              </a:tabLst>
            </a:pPr>
            <a:r>
              <a:rPr lang="en-US" sz="4000" b="1" dirty="0">
                <a:latin typeface="Times New Roman" panose="02020603050405020304" pitchFamily="18" charset="0"/>
                <a:cs typeface="Times New Roman" panose="02020603050405020304" pitchFamily="18" charset="0"/>
              </a:rPr>
              <a:t>Visual bearing measurement: </a:t>
            </a:r>
            <a:r>
              <a:rPr lang="en-US" sz="4000" dirty="0">
                <a:latin typeface="Times New Roman" panose="02020603050405020304" pitchFamily="18" charset="0"/>
                <a:cs typeface="Times New Roman" panose="02020603050405020304" pitchFamily="18" charset="0"/>
              </a:rPr>
              <a:t>low uncertainty in directional information, high uncertainty in depth information;</a:t>
            </a:r>
          </a:p>
          <a:p>
            <a:pPr marL="1054347" marR="670869" lvl="1" indent="-571500">
              <a:lnSpc>
                <a:spcPct val="150000"/>
              </a:lnSpc>
              <a:spcBef>
                <a:spcPts val="2722"/>
              </a:spcBef>
              <a:buFont typeface="Arial" panose="020B0604020202020204" pitchFamily="34" charset="0"/>
              <a:buChar char="•"/>
              <a:tabLst>
                <a:tab pos="712714" algn="l"/>
              </a:tabLst>
            </a:pPr>
            <a:r>
              <a:rPr lang="en-US" sz="4000" b="1" dirty="0">
                <a:latin typeface="Times New Roman" panose="02020603050405020304" pitchFamily="18" charset="0"/>
                <a:cs typeface="Times New Roman" panose="02020603050405020304" pitchFamily="18" charset="0"/>
              </a:rPr>
              <a:t>UWB range measurement: </a:t>
            </a:r>
            <a:r>
              <a:rPr lang="en-US" sz="4000" dirty="0">
                <a:latin typeface="Times New Roman" panose="02020603050405020304" pitchFamily="18" charset="0"/>
                <a:cs typeface="Times New Roman" panose="02020603050405020304" pitchFamily="18" charset="0"/>
              </a:rPr>
              <a:t>high uncertainty in directional information, low uncertainty in depth information;</a:t>
            </a:r>
          </a:p>
          <a:p>
            <a:pPr marL="1054347" marR="670869" lvl="1" indent="-571500">
              <a:lnSpc>
                <a:spcPct val="150000"/>
              </a:lnSpc>
              <a:spcBef>
                <a:spcPts val="2722"/>
              </a:spcBef>
              <a:buFont typeface="Arial" panose="020B0604020202020204" pitchFamily="34" charset="0"/>
              <a:buChar char="•"/>
              <a:tabLst>
                <a:tab pos="712714" algn="l"/>
              </a:tabLst>
            </a:pPr>
            <a:r>
              <a:rPr lang="en-US" sz="4000" b="1" dirty="0">
                <a:latin typeface="Times New Roman" panose="02020603050405020304" pitchFamily="18" charset="0"/>
                <a:cs typeface="Times New Roman" panose="02020603050405020304" pitchFamily="18" charset="0"/>
              </a:rPr>
              <a:t>The SOT(3) formulation decouples the bearing information and depth information, so the filter can better handle the uncertainties in those directions, leading to higher accuracy and consistency.</a:t>
            </a:r>
          </a:p>
          <a:p>
            <a:pPr marL="1054347" marR="670869" lvl="1" indent="-571500">
              <a:lnSpc>
                <a:spcPct val="150000"/>
              </a:lnSpc>
              <a:spcBef>
                <a:spcPts val="2722"/>
              </a:spcBef>
              <a:buFont typeface="Arial" panose="020B0604020202020204" pitchFamily="34" charset="0"/>
              <a:buChar char="•"/>
              <a:tabLst>
                <a:tab pos="712714" algn="l"/>
              </a:tabLst>
            </a:pPr>
            <a:endParaRPr lang="en-US" sz="4000" b="1" dirty="0">
              <a:latin typeface="Times New Roman" panose="02020603050405020304" pitchFamily="18" charset="0"/>
              <a:cs typeface="Times New Roman" panose="02020603050405020304" pitchFamily="18" charset="0"/>
            </a:endParaRPr>
          </a:p>
          <a:p>
            <a:pPr marL="482847" marR="670869" lvl="1">
              <a:lnSpc>
                <a:spcPct val="150000"/>
              </a:lnSpc>
              <a:spcBef>
                <a:spcPts val="2722"/>
              </a:spcBef>
              <a:tabLst>
                <a:tab pos="712714" algn="l"/>
              </a:tabLst>
            </a:pPr>
            <a:endParaRPr lang="en-US" sz="3613" spc="-20" dirty="0">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3B6863EF-5286-4B36-77E9-EF686E8681E1}"/>
              </a:ext>
            </a:extLst>
          </p:cNvPr>
          <p:cNvPicPr>
            <a:picLocks noChangeAspect="1"/>
          </p:cNvPicPr>
          <p:nvPr>
            <p:custDataLst>
              <p:tags r:id="rId2"/>
            </p:custDataLst>
          </p:nvPr>
        </p:nvPicPr>
        <p:blipFill>
          <a:blip r:embed="rId19"/>
          <a:stretch>
            <a:fillRect/>
          </a:stretch>
        </p:blipFill>
        <p:spPr>
          <a:xfrm>
            <a:off x="20580135" y="20642139"/>
            <a:ext cx="7311775" cy="561551"/>
          </a:xfrm>
          <a:prstGeom prst="rect">
            <a:avLst/>
          </a:prstGeom>
        </p:spPr>
      </p:pic>
      <p:pic>
        <p:nvPicPr>
          <p:cNvPr id="37" name="Picture 36">
            <a:extLst>
              <a:ext uri="{FF2B5EF4-FFF2-40B4-BE49-F238E27FC236}">
                <a16:creationId xmlns:a16="http://schemas.microsoft.com/office/drawing/2014/main" id="{096668E0-8713-AFD3-4B83-53E6F6CB0DD5}"/>
              </a:ext>
            </a:extLst>
          </p:cNvPr>
          <p:cNvPicPr>
            <a:picLocks noChangeAspect="1"/>
          </p:cNvPicPr>
          <p:nvPr>
            <p:custDataLst>
              <p:tags r:id="rId3"/>
            </p:custDataLst>
          </p:nvPr>
        </p:nvPicPr>
        <p:blipFill>
          <a:blip r:embed="rId20"/>
          <a:stretch>
            <a:fillRect/>
          </a:stretch>
        </p:blipFill>
        <p:spPr>
          <a:xfrm>
            <a:off x="21862999" y="21871457"/>
            <a:ext cx="1563764" cy="458851"/>
          </a:xfrm>
          <a:prstGeom prst="rect">
            <a:avLst/>
          </a:prstGeom>
        </p:spPr>
      </p:pic>
      <p:pic>
        <p:nvPicPr>
          <p:cNvPr id="38" name="Picture 37">
            <a:extLst>
              <a:ext uri="{FF2B5EF4-FFF2-40B4-BE49-F238E27FC236}">
                <a16:creationId xmlns:a16="http://schemas.microsoft.com/office/drawing/2014/main" id="{BF422637-68F9-F943-5592-485609D0AF8A}"/>
              </a:ext>
            </a:extLst>
          </p:cNvPr>
          <p:cNvPicPr>
            <a:picLocks noChangeAspect="1"/>
          </p:cNvPicPr>
          <p:nvPr>
            <p:custDataLst>
              <p:tags r:id="rId4"/>
            </p:custDataLst>
          </p:nvPr>
        </p:nvPicPr>
        <p:blipFill>
          <a:blip r:embed="rId21"/>
          <a:stretch>
            <a:fillRect/>
          </a:stretch>
        </p:blipFill>
        <p:spPr>
          <a:xfrm>
            <a:off x="19079329" y="22693535"/>
            <a:ext cx="4672704" cy="493676"/>
          </a:xfrm>
          <a:prstGeom prst="rect">
            <a:avLst/>
          </a:prstGeom>
        </p:spPr>
      </p:pic>
      <p:pic>
        <p:nvPicPr>
          <p:cNvPr id="39" name="Picture 38">
            <a:extLst>
              <a:ext uri="{FF2B5EF4-FFF2-40B4-BE49-F238E27FC236}">
                <a16:creationId xmlns:a16="http://schemas.microsoft.com/office/drawing/2014/main" id="{BC7BAF46-48F8-B90B-A77D-4E99613456DF}"/>
              </a:ext>
            </a:extLst>
          </p:cNvPr>
          <p:cNvPicPr>
            <a:picLocks noChangeAspect="1"/>
          </p:cNvPicPr>
          <p:nvPr>
            <p:custDataLst>
              <p:tags r:id="rId5"/>
            </p:custDataLst>
          </p:nvPr>
        </p:nvPicPr>
        <p:blipFill>
          <a:blip r:embed="rId22"/>
          <a:stretch>
            <a:fillRect/>
          </a:stretch>
        </p:blipFill>
        <p:spPr>
          <a:xfrm>
            <a:off x="15578160" y="23635129"/>
            <a:ext cx="2422733" cy="473534"/>
          </a:xfrm>
          <a:prstGeom prst="rect">
            <a:avLst/>
          </a:prstGeom>
        </p:spPr>
      </p:pic>
      <p:pic>
        <p:nvPicPr>
          <p:cNvPr id="40" name="Picture 39">
            <a:extLst>
              <a:ext uri="{FF2B5EF4-FFF2-40B4-BE49-F238E27FC236}">
                <a16:creationId xmlns:a16="http://schemas.microsoft.com/office/drawing/2014/main" id="{462CE523-8E75-A435-1FBC-5E41C5734D57}"/>
              </a:ext>
            </a:extLst>
          </p:cNvPr>
          <p:cNvPicPr>
            <a:picLocks noChangeAspect="1"/>
          </p:cNvPicPr>
          <p:nvPr>
            <p:custDataLst>
              <p:tags r:id="rId6"/>
            </p:custDataLst>
          </p:nvPr>
        </p:nvPicPr>
        <p:blipFill>
          <a:blip r:embed="rId23"/>
          <a:stretch>
            <a:fillRect/>
          </a:stretch>
        </p:blipFill>
        <p:spPr>
          <a:xfrm>
            <a:off x="21250947" y="23615954"/>
            <a:ext cx="1640851" cy="444168"/>
          </a:xfrm>
          <a:prstGeom prst="rect">
            <a:avLst/>
          </a:prstGeom>
        </p:spPr>
      </p:pic>
      <p:sp>
        <p:nvSpPr>
          <p:cNvPr id="41" name="TextBox 40">
            <a:extLst>
              <a:ext uri="{FF2B5EF4-FFF2-40B4-BE49-F238E27FC236}">
                <a16:creationId xmlns:a16="http://schemas.microsoft.com/office/drawing/2014/main" id="{206F0307-17F3-0391-9972-9AF77C4FB7F8}"/>
              </a:ext>
            </a:extLst>
          </p:cNvPr>
          <p:cNvSpPr txBox="1"/>
          <p:nvPr/>
        </p:nvSpPr>
        <p:spPr>
          <a:xfrm>
            <a:off x="24564999" y="39330298"/>
            <a:ext cx="1828541" cy="1107996"/>
          </a:xfrm>
          <a:prstGeom prst="rect">
            <a:avLst/>
          </a:prstGeom>
          <a:noFill/>
        </p:spPr>
        <p:txBody>
          <a:bodyPr wrap="square" rtlCol="0">
            <a:spAutoFit/>
          </a:bodyPr>
          <a:lstStyle/>
          <a:p>
            <a:r>
              <a:rPr lang="en-US" sz="6600" dirty="0">
                <a:solidFill>
                  <a:schemeClr val="tx2">
                    <a:lumMod val="75000"/>
                    <a:lumOff val="25000"/>
                  </a:schemeClr>
                </a:solidFill>
                <a:latin typeface="Times New Roman" panose="02020603050405020304" pitchFamily="18" charset="0"/>
                <a:cs typeface="Times New Roman" panose="02020603050405020304" pitchFamily="18" charset="0"/>
              </a:rPr>
              <a:t>EKF</a:t>
            </a:r>
          </a:p>
        </p:txBody>
      </p:sp>
      <p:sp>
        <p:nvSpPr>
          <p:cNvPr id="42" name="TextBox 41">
            <a:extLst>
              <a:ext uri="{FF2B5EF4-FFF2-40B4-BE49-F238E27FC236}">
                <a16:creationId xmlns:a16="http://schemas.microsoft.com/office/drawing/2014/main" id="{FBB1C025-1B58-0C9A-74F9-1F1D949A7631}"/>
              </a:ext>
            </a:extLst>
          </p:cNvPr>
          <p:cNvSpPr txBox="1"/>
          <p:nvPr/>
        </p:nvSpPr>
        <p:spPr>
          <a:xfrm>
            <a:off x="24671837" y="35733367"/>
            <a:ext cx="1778712" cy="1107996"/>
          </a:xfrm>
          <a:prstGeom prst="rect">
            <a:avLst/>
          </a:prstGeom>
          <a:noFill/>
        </p:spPr>
        <p:txBody>
          <a:bodyPr wrap="square" rtlCol="0">
            <a:spAutoFit/>
          </a:bodyPr>
          <a:lstStyle/>
          <a:p>
            <a:r>
              <a:rPr lang="en-US" sz="6600" dirty="0">
                <a:solidFill>
                  <a:srgbClr val="FD8520"/>
                </a:solidFill>
                <a:latin typeface="Times New Roman" panose="02020603050405020304" pitchFamily="18" charset="0"/>
                <a:cs typeface="Times New Roman" panose="02020603050405020304" pitchFamily="18" charset="0"/>
              </a:rPr>
              <a:t>EqF</a:t>
            </a:r>
          </a:p>
        </p:txBody>
      </p:sp>
      <p:pic>
        <p:nvPicPr>
          <p:cNvPr id="28" name="Picture 27">
            <a:extLst>
              <a:ext uri="{FF2B5EF4-FFF2-40B4-BE49-F238E27FC236}">
                <a16:creationId xmlns:a16="http://schemas.microsoft.com/office/drawing/2014/main" id="{A87DCE02-8912-D9D2-4FC3-36249689177F}"/>
              </a:ext>
            </a:extLst>
          </p:cNvPr>
          <p:cNvPicPr>
            <a:picLocks noChangeAspect="1"/>
          </p:cNvPicPr>
          <p:nvPr>
            <p:custDataLst>
              <p:tags r:id="rId7"/>
            </p:custDataLst>
          </p:nvPr>
        </p:nvPicPr>
        <p:blipFill>
          <a:blip r:embed="rId24"/>
          <a:stretch>
            <a:fillRect/>
          </a:stretch>
        </p:blipFill>
        <p:spPr>
          <a:xfrm>
            <a:off x="20580135" y="24721827"/>
            <a:ext cx="8173931" cy="2546887"/>
          </a:xfrm>
          <a:prstGeom prst="rect">
            <a:avLst/>
          </a:prstGeom>
        </p:spPr>
      </p:pic>
      <p:sp>
        <p:nvSpPr>
          <p:cNvPr id="43" name="TextBox 42">
            <a:extLst>
              <a:ext uri="{FF2B5EF4-FFF2-40B4-BE49-F238E27FC236}">
                <a16:creationId xmlns:a16="http://schemas.microsoft.com/office/drawing/2014/main" id="{0326B0A7-0F2B-B520-BF07-CC68CF9953A4}"/>
              </a:ext>
            </a:extLst>
          </p:cNvPr>
          <p:cNvSpPr txBox="1"/>
          <p:nvPr/>
        </p:nvSpPr>
        <p:spPr>
          <a:xfrm>
            <a:off x="12882793" y="2529795"/>
            <a:ext cx="13815727" cy="3970318"/>
          </a:xfrm>
          <a:prstGeom prst="rect">
            <a:avLst/>
          </a:prstGeom>
          <a:noFill/>
        </p:spPr>
        <p:txBody>
          <a:bodyPr wrap="square" rtlCol="0">
            <a:spAutoFit/>
          </a:bodyPr>
          <a:lstStyle/>
          <a:p>
            <a:pPr algn="ctr"/>
            <a:r>
              <a:rPr lang="en-US" sz="4000" dirty="0">
                <a:solidFill>
                  <a:srgbClr val="FD8520"/>
                </a:solidFill>
                <a:latin typeface="Times New Roman" panose="02020603050405020304" pitchFamily="18" charset="0"/>
                <a:cs typeface="Times New Roman" panose="02020603050405020304" pitchFamily="18" charset="0"/>
              </a:rPr>
              <a:t>Ground Systems Autonomy – Perception </a:t>
            </a:r>
            <a:br>
              <a:rPr lang="en-US" sz="4000" dirty="0">
                <a:solidFill>
                  <a:srgbClr val="FD8520"/>
                </a:solidFill>
                <a:latin typeface="Times New Roman" panose="02020603050405020304" pitchFamily="18" charset="0"/>
                <a:cs typeface="Times New Roman" panose="02020603050405020304" pitchFamily="18" charset="0"/>
              </a:rPr>
            </a:br>
            <a:r>
              <a:rPr lang="en-US" sz="4000" dirty="0">
                <a:solidFill>
                  <a:srgbClr val="FD8520"/>
                </a:solidFill>
                <a:latin typeface="Times New Roman" panose="02020603050405020304" pitchFamily="18" charset="0"/>
                <a:cs typeface="Times New Roman" panose="02020603050405020304" pitchFamily="18" charset="0"/>
              </a:rPr>
              <a:t>Vehicle Autonomy and Dynamics | Platforms Division</a:t>
            </a:r>
            <a:br>
              <a:rPr lang="en-US" sz="4000" dirty="0">
                <a:solidFill>
                  <a:srgbClr val="FD8520"/>
                </a:solidFill>
                <a:latin typeface="Times New Roman" panose="02020603050405020304" pitchFamily="18" charset="0"/>
                <a:cs typeface="Times New Roman" panose="02020603050405020304" pitchFamily="18" charset="0"/>
              </a:rPr>
            </a:br>
            <a:r>
              <a:rPr lang="en-US" sz="4000" dirty="0">
                <a:solidFill>
                  <a:srgbClr val="FD8520"/>
                </a:solidFill>
                <a:latin typeface="Times New Roman" panose="02020603050405020304" pitchFamily="18" charset="0"/>
                <a:cs typeface="Times New Roman" panose="02020603050405020304" pitchFamily="18" charset="0"/>
              </a:rPr>
              <a:t>Defense Science and Technology Group</a:t>
            </a:r>
            <a:br>
              <a:rPr lang="en-US" sz="4400" dirty="0">
                <a:solidFill>
                  <a:srgbClr val="FD8520"/>
                </a:solidFill>
                <a:latin typeface="Times New Roman" panose="02020603050405020304" pitchFamily="18" charset="0"/>
                <a:cs typeface="Times New Roman" panose="02020603050405020304" pitchFamily="18" charset="0"/>
              </a:rPr>
            </a:br>
            <a:endParaRPr lang="en-US" sz="4400" dirty="0">
              <a:solidFill>
                <a:srgbClr val="FD8520"/>
              </a:solidFill>
              <a:latin typeface="Times New Roman" panose="02020603050405020304" pitchFamily="18" charset="0"/>
              <a:cs typeface="Times New Roman" panose="02020603050405020304" pitchFamily="18" charset="0"/>
            </a:endParaRPr>
          </a:p>
          <a:p>
            <a:pPr algn="ctr"/>
            <a:endParaRPr lang="en-US" sz="4400" dirty="0">
              <a:solidFill>
                <a:srgbClr val="FD8520"/>
              </a:solidFill>
              <a:latin typeface="Times New Roman" panose="02020603050405020304" pitchFamily="18" charset="0"/>
              <a:cs typeface="Times New Roman" panose="02020603050405020304" pitchFamily="18" charset="0"/>
            </a:endParaRPr>
          </a:p>
          <a:p>
            <a:pPr algn="ctr"/>
            <a:endParaRPr lang="en-US" sz="4400" dirty="0">
              <a:solidFill>
                <a:srgbClr val="FD8520"/>
              </a:solidFill>
              <a:latin typeface="Times New Roman" panose="02020603050405020304" pitchFamily="18" charset="0"/>
              <a:cs typeface="Times New Roman" panose="02020603050405020304" pitchFamily="18" charset="0"/>
            </a:endParaRPr>
          </a:p>
        </p:txBody>
      </p:sp>
      <p:pic>
        <p:nvPicPr>
          <p:cNvPr id="44" name="Picture 2" descr="Fulbright Distinguished Chair in Advanced (Defence) Science and Technology  (funded by the Defence, Science and Technology Group) - Fulbright |  Fulbright | Australian-American Fulbright Commission">
            <a:extLst>
              <a:ext uri="{FF2B5EF4-FFF2-40B4-BE49-F238E27FC236}">
                <a16:creationId xmlns:a16="http://schemas.microsoft.com/office/drawing/2014/main" id="{CAC2ED8F-EB93-78EF-A1B6-8D948F772ED9}"/>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5977319" y="1853280"/>
            <a:ext cx="3941400" cy="295605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56" descr="A field with toy tractors&#10;&#10;AI-generated content may be incorrect.">
            <a:extLst>
              <a:ext uri="{FF2B5EF4-FFF2-40B4-BE49-F238E27FC236}">
                <a16:creationId xmlns:a16="http://schemas.microsoft.com/office/drawing/2014/main" id="{7F3058C4-7E0C-BA21-1E68-BBDD878455AE}"/>
              </a:ext>
            </a:extLst>
          </p:cNvPr>
          <p:cNvPicPr>
            <a:picLocks noChangeAspect="1"/>
          </p:cNvPicPr>
          <p:nvPr/>
        </p:nvPicPr>
        <p:blipFill>
          <a:blip r:embed="rId26"/>
          <a:srcRect t="12958" r="28379" b="34449"/>
          <a:stretch>
            <a:fillRect/>
          </a:stretch>
        </p:blipFill>
        <p:spPr>
          <a:xfrm>
            <a:off x="863319" y="19926055"/>
            <a:ext cx="11286342" cy="5534959"/>
          </a:xfrm>
          <a:prstGeom prst="rect">
            <a:avLst/>
          </a:prstGeom>
        </p:spPr>
      </p:pic>
      <p:pic>
        <p:nvPicPr>
          <p:cNvPr id="7" name="Graphic 6">
            <a:extLst>
              <a:ext uri="{FF2B5EF4-FFF2-40B4-BE49-F238E27FC236}">
                <a16:creationId xmlns:a16="http://schemas.microsoft.com/office/drawing/2014/main" id="{C24D46E2-D971-99AD-4F98-FC152753149B}"/>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3157684" y="12131724"/>
            <a:ext cx="16735955" cy="6529669"/>
          </a:xfrm>
          <a:prstGeom prst="rect">
            <a:avLst/>
          </a:prstGeom>
        </p:spPr>
      </p:pic>
    </p:spTree>
    <p:extLst>
      <p:ext uri="{BB962C8B-B14F-4D97-AF65-F5344CB8AC3E}">
        <p14:creationId xmlns:p14="http://schemas.microsoft.com/office/powerpoint/2010/main" val="13728344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 1200"/>
  <p:tag name="ORIGINALHEIGHT" val=" 1881"/>
  <p:tag name="ORIGINALWIDTH" val=" 3900"/>
  <p:tag name="OUTPUTTYPE" val="PNG"/>
  <p:tag name="IGUANATEXVERSION" val="162"/>
  <p:tag name="LATEXADDIN" val="\documentclass{article}&#10;\usepackage{amsmath}&#10;\usepackage{amssymb}&#10;\usepackage{xcolor}&#10;\pagestyle{empty}&#10;\usepackage{verbatim}&#10;\begin{document}&#10;\begin{verbatim}&#10;mission_{}.h5&#10;|-- landmarks                (static UWB/visual landmarks)&#10;+-- robots                   (one group per robot)&#10;    |-- UAV1&#10;    |   |-- ground_truth     (position, orientation)&#10;    |   |-- sensors          (IMU, GNSS, UWB, cameras, etc.)&#10;    |   |-- sensor_errors    (measurement - ground truth)&#10;    |   +-- time_sync        (device &lt;-&gt; GNSS time)&#10;    |-- UAV2&#10;    |-- UAV3&#10;    |-- UGV1&#10;    |-- UGV2&#10;    +-- UGV3&#10;\end{verbatim}&#10;&#10;\end{document}"/>
  <p:tag name="IGUANATEXSIZE" val="20"/>
  <p:tag name="IGUANATEXCURSOR" val="600"/>
  <p:tag name="TRANSPARENCY" val="True"/>
  <p:tag name="CHOOSECOLOR" val="False"/>
  <p:tag name="COLORHEX" val="000000"/>
  <p:tag name="LATEXENGINEID" val="0"/>
  <p:tag name="TEMPFOLDER" val="/Users/shawnge/Library/Containers/com.microsoft.Powerpoint/Data/tmp/TemporaryItems/"/>
  <p:tag name="LATEXFORMHEIGHT" val=" 426.65"/>
  <p:tag name="LATEXFORMWIDTH" val=" 513.3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 1200"/>
  <p:tag name="ORIGINALHEIGHT" val=" 145"/>
  <p:tag name="ORIGINALWIDTH" val=" 1888"/>
  <p:tag name="OUTPUTTYPE" val="PNG"/>
  <p:tag name="IGUANATEXVERSION" val="162"/>
  <p:tag name="LATEXADDIN" val="\documentclass{article}&#10;\usepackage{amsmath}&#10;\pagestyle{empty}&#10;\begin{document}&#10;&#10;&#10;$\mathbf{SLAM}^R_n(3):= \mathbf{SE}_2(3)\times \mathbf{SOT}(3)^n$&#10;&#10;&#10;\end{document}"/>
  <p:tag name="IGUANATEXSIZE" val="20"/>
  <p:tag name="IGUANATEXCURSOR" val="148"/>
  <p:tag name="TRANSPARENCY" val="True"/>
  <p:tag name="CHOOSECOLOR" val="False"/>
  <p:tag name="COLORHEX" val="000000"/>
  <p:tag name="LATEXENGINEID" val="0"/>
  <p:tag name="TEMPFOLDER" val="/Users/shawnge/Library/Containers/com.microsoft.Powerpoint/Data/tmp/TemporaryItems/"/>
  <p:tag name="LATEXFORMHEIGHT" val=" 426.65"/>
  <p:tag name="LATEXFORMWIDTH" val=" 513.3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 1200"/>
  <p:tag name="ORIGINALHEIGHT" val=" 125"/>
  <p:tag name="ORIGINALWIDTH" val=" 426"/>
  <p:tag name="OUTPUTTYPE" val="PNG"/>
  <p:tag name="IGUANATEXVERSION" val="162"/>
  <p:tag name="LATEXADDIN" val="\documentclass{article}&#10;\usepackage{amsmath}&#10;\pagestyle{empty}&#10;\begin{document}&#10;&#10;&#10;$\mathbf{SOT}(3)$&#10;&#10;\end{document}"/>
  <p:tag name="IGUANATEXSIZE" val="36.13"/>
  <p:tag name="IGUANATEXCURSOR" val="98"/>
  <p:tag name="TRANSPARENCY" val="True"/>
  <p:tag name="CHOOSECOLOR" val="False"/>
  <p:tag name="COLORHEX" val="000000"/>
  <p:tag name="LATEXENGINEID" val="0"/>
  <p:tag name="TEMPFOLDER" val="/Users/shawnge/Library/Containers/com.microsoft.Powerpoint/Data/tmp/TemporaryItems/"/>
  <p:tag name="LATEXFORMHEIGHT" val=" 426.65"/>
  <p:tag name="LATEXFORMWIDTH" val=" 513.3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 1200"/>
  <p:tag name="ORIGINALHEIGHT" val=" 129"/>
  <p:tag name="ORIGINALWIDTH" val=" 1221"/>
  <p:tag name="OUTPUTTYPE" val="PNG"/>
  <p:tag name="IGUANATEXVERSION" val="162"/>
  <p:tag name="LATEXADDIN" val="\documentclass{article}&#10;\usepackage{amsmath}&#10;\pagestyle{empty}&#10;\begin{document}&#10;&#10;&#10;$Q = c_Q \,R_Q \in\mathbf{SOT}(3),$&#10;&#10;\end{document}"/>
  <p:tag name="IGUANATEXSIZE" val="36.13"/>
  <p:tag name="IGUANATEXCURSOR" val="117"/>
  <p:tag name="TRANSPARENCY" val="True"/>
  <p:tag name="CHOOSECOLOR" val="False"/>
  <p:tag name="COLORHEX" val="000000"/>
  <p:tag name="LATEXENGINEID" val="0"/>
  <p:tag name="TEMPFOLDER" val="/Users/shawnge/Library/Containers/com.microsoft.Powerpoint/Data/tmp/TemporaryItems/"/>
  <p:tag name="LATEXFORMHEIGHT" val=" 426.65"/>
  <p:tag name="LATEXFORMWIDTH" val=" 513.3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 1200"/>
  <p:tag name="ORIGINALHEIGHT" val=" 129"/>
  <p:tag name="ORIGINALWIDTH" val=" 660"/>
  <p:tag name="OUTPUTTYPE" val="PNG"/>
  <p:tag name="IGUANATEXVERSION" val="162"/>
  <p:tag name="LATEXADDIN" val="\documentclass{article}&#10;\usepackage{amsmath}&#10;\pagestyle{empty}&#10;\begin{document}&#10;&#10;&#10;$R_Q\in\mathbf{SO}(3)$&#10;&#10;\end{document}"/>
  <p:tag name="IGUANATEXSIZE" val="36.13"/>
  <p:tag name="IGUANATEXCURSOR" val="104"/>
  <p:tag name="TRANSPARENCY" val="True"/>
  <p:tag name="CHOOSECOLOR" val="False"/>
  <p:tag name="COLORHEX" val="000000"/>
  <p:tag name="LATEXENGINEID" val="0"/>
  <p:tag name="TEMPFOLDER" val="/Users/shawnge/Library/Containers/com.microsoft.Powerpoint/Data/tmp/TemporaryItems/"/>
  <p:tag name="LATEXFORMHEIGHT" val=" 426.65"/>
  <p:tag name="LATEXFORMWIDTH" val=" 513.3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 1200"/>
  <p:tag name="ORIGINALHEIGHT" val=" 121"/>
  <p:tag name="ORIGINALWIDTH" val=" 447"/>
  <p:tag name="OUTPUTTYPE" val="PNG"/>
  <p:tag name="IGUANATEXVERSION" val="162"/>
  <p:tag name="LATEXADDIN" val="\documentclass{article}&#10;\usepackage{amsmath}&#10;\usepackage{amssymb}&#10;\pagestyle{empty}&#10;\begin{document}&#10;&#10;$c_Q\in \mathbb{R}_+$&#10;&#10;\end{document}"/>
  <p:tag name="IGUANATEXSIZE" val="36.13"/>
  <p:tag name="IGUANATEXCURSOR" val="83"/>
  <p:tag name="TRANSPARENCY" val="True"/>
  <p:tag name="CHOOSECOLOR" val="False"/>
  <p:tag name="COLORHEX" val="000000"/>
  <p:tag name="LATEXENGINEID" val="0"/>
  <p:tag name="TEMPFOLDER" val="/Users/shawnge/Library/Containers/com.microsoft.Powerpoint/Data/tmp/TemporaryItems/"/>
  <p:tag name="LATEXFORMHEIGHT" val=" 426.65"/>
  <p:tag name="LATEXFORMWIDTH" val=" 513.3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 1200"/>
  <p:tag name="ORIGINALHEIGHT" val=" 597"/>
  <p:tag name="ORIGINALWIDTH" val=" 1916"/>
  <p:tag name="OUTPUTTYPE" val="PNG"/>
  <p:tag name="IGUANATEXVERSION" val="162"/>
  <p:tag name="LATEXADDIN" val="\documentclass{article}&#10;\usepackage{amsmath}&#10;\usepackage{amssymb}&#10;\usepackage{xcolor}&#10;\pagestyle{empty}&#10;\begin{document}&#10;&#10;&#10;\begin{align*}&#10;   &amp;\varsigma_{\mathbf{SOT}(3)}(q):=\begin{pmatrix}&#10;        \arccos \left(\frac{q_3}{|q|}\right) \frac{q_2}{\left|\mathbf{e}_3 \times q\right|} \\&#10;        \arccos \left(\frac{q_3}{|q|}\right) \frac{-q_1}{\left|\mathbf{e}_3 \times q\right|} \\&#10;        -\log (|q|)&#10;        \end{pmatrix}&#10;\end{align*}&#10;&#10;\end{document}"/>
  <p:tag name="IGUANATEXSIZE" val="20"/>
  <p:tag name="IGUANATEXCURSOR" val="137"/>
  <p:tag name="TRANSPARENCY" val="True"/>
  <p:tag name="CHOOSECOLOR" val="False"/>
  <p:tag name="COLORHEX" val="000000"/>
  <p:tag name="LATEXENGINEID" val="0"/>
  <p:tag name="TEMPFOLDER" val="/Users/shawnge/Library/Containers/com.microsoft.Powerpoint/Data/tmp/TemporaryItems/"/>
  <p:tag name="LATEXFORMHEIGHT" val=" 426.65"/>
  <p:tag name="LATEXFORMWIDTH" val=" 513.35"/>
  <p:tag name="LATEXFORMWRAP" val="True"/>
  <p:tag name="BITMAPVECTOR" val="0"/>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3403</TotalTime>
  <Words>512</Words>
  <Application>Microsoft Macintosh PowerPoint</Application>
  <PresentationFormat>Custom</PresentationFormat>
  <Paragraphs>46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Times New Roman</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Shawn Ge</dc:creator>
  <cp:lastModifiedBy>Shawn Ge</cp:lastModifiedBy>
  <cp:revision>13</cp:revision>
  <dcterms:created xsi:type="dcterms:W3CDTF">2025-05-09T05:26:47Z</dcterms:created>
  <dcterms:modified xsi:type="dcterms:W3CDTF">2026-02-10T22:51:10Z</dcterms:modified>
</cp:coreProperties>
</file>